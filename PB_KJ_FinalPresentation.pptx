
<file path=[Content_Types].xml><?xml version="1.0" encoding="utf-8"?>
<Types xmlns="http://schemas.openxmlformats.org/package/2006/content-types"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7"/>
  </p:notesMasterIdLst>
  <p:sldIdLst>
    <p:sldId id="257" r:id="rId2"/>
    <p:sldId id="261" r:id="rId3"/>
    <p:sldId id="258" r:id="rId4"/>
    <p:sldId id="262" r:id="rId5"/>
    <p:sldId id="265" r:id="rId6"/>
    <p:sldId id="272" r:id="rId7"/>
    <p:sldId id="270" r:id="rId8"/>
    <p:sldId id="267" r:id="rId9"/>
    <p:sldId id="276" r:id="rId10"/>
    <p:sldId id="273" r:id="rId11"/>
    <p:sldId id="274" r:id="rId12"/>
    <p:sldId id="266" r:id="rId13"/>
    <p:sldId id="271" r:id="rId14"/>
    <p:sldId id="278" r:id="rId15"/>
    <p:sldId id="275" r:id="rId16"/>
    <p:sldId id="263" r:id="rId17"/>
    <p:sldId id="277" r:id="rId18"/>
    <p:sldId id="279" r:id="rId19"/>
    <p:sldId id="269" r:id="rId20"/>
    <p:sldId id="284" r:id="rId21"/>
    <p:sldId id="283" r:id="rId22"/>
    <p:sldId id="280" r:id="rId23"/>
    <p:sldId id="281" r:id="rId24"/>
    <p:sldId id="282" r:id="rId25"/>
    <p:sldId id="26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A0D14-C23F-9443-B29F-9BABC47FCCEB}" v="900" dt="2026-04-30T12:36:23.167"/>
    <p1510:client id="{8C9DF973-A7B5-8645-B8B6-7C4D4973CF2F}" v="1130" dt="2026-04-30T02:08:34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9"/>
    <p:restoredTop sz="94673"/>
  </p:normalViewPr>
  <p:slideViewPr>
    <p:cSldViewPr snapToGrid="0">
      <p:cViewPr varScale="1">
        <p:scale>
          <a:sx n="105" d="100"/>
          <a:sy n="105" d="100"/>
        </p:scale>
        <p:origin x="21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E8367-6B92-3B40-8B89-C65A7F4043E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C7D1C-4D20-E544-96A8-73071C48D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4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C7D1C-4D20-E544-96A8-73071C48DB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25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latex formatted algorithm that describes the entire end-to-end process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Neural learning layer</a:t>
            </a:r>
          </a:p>
          <a:p>
            <a:pPr marL="342900" indent="-342900">
              <a:buAutoNum type="arabicPeriod"/>
            </a:pPr>
            <a:r>
              <a:rPr lang="en-US" dirty="0"/>
              <a:t>Embedded differentiable optimization layer</a:t>
            </a:r>
          </a:p>
          <a:p>
            <a:pPr marL="342900" indent="-342900">
              <a:buAutoNum type="arabicPeriod"/>
            </a:pPr>
            <a:r>
              <a:rPr lang="en-US" dirty="0"/>
              <a:t>End-to-end training</a:t>
            </a:r>
          </a:p>
          <a:p>
            <a:pPr marL="342900" indent="-342900">
              <a:buAutoNum type="arabicPeriod"/>
            </a:pPr>
            <a:r>
              <a:rPr lang="en-US" dirty="0"/>
              <a:t>Feasibility restoration step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C7D1C-4D20-E544-96A8-73071C48DB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3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1AB265-C0D2-A543-B156-B0221787B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33906"/>
            <a:ext cx="12192000" cy="11240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Franklin Gothic Medium" panose="020B0603020102020204" pitchFamily="34" charset="0"/>
            </a:endParaRP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B10240F-B4BA-0448-B9CB-BAB80DBF6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1889" y="3519488"/>
            <a:ext cx="8334246" cy="701877"/>
          </a:xfrm>
        </p:spPr>
        <p:txBody>
          <a:bodyPr anchor="t">
            <a:noAutofit/>
          </a:bodyPr>
          <a:lstStyle>
            <a:lvl1pPr marL="0" indent="0">
              <a:buNone/>
              <a:defRPr sz="2300" b="0" i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Medium" panose="020B0603020102020204" pitchFamily="34" charset="0"/>
              </a:defRPr>
            </a:lvl1pPr>
          </a:lstStyle>
          <a:p>
            <a:pPr lvl="0"/>
            <a:r>
              <a:rPr lang="en-US"/>
              <a:t>Insert subtitle, date or other important information, not to exceed two lines 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4FFE49-5199-9649-BB93-106054861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1889" y="5953913"/>
            <a:ext cx="10311412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38E82-F276-E142-E87C-5EDAC74060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888" y="905690"/>
            <a:ext cx="8334246" cy="2106570"/>
          </a:xfrm>
        </p:spPr>
        <p:txBody>
          <a:bodyPr rIns="91440" anchor="b">
            <a:normAutofit/>
          </a:bodyPr>
          <a:lstStyle>
            <a:lvl1pPr algn="l">
              <a:defRPr sz="4200" b="0" i="0">
                <a:solidFill>
                  <a:schemeClr val="tx1">
                    <a:lumMod val="90000"/>
                    <a:lumOff val="10000"/>
                  </a:schemeClr>
                </a:solidFill>
                <a:latin typeface="Franklin Gothic Medium" panose="020B0603020102020204" pitchFamily="34" charset="0"/>
                <a:ea typeface="Red Hat Display" panose="02010303040201060303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slide title in title or sentence case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A8BC2-2551-FA1A-C7E7-5273998D4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1888" y="3218871"/>
            <a:ext cx="4875535" cy="9400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C0000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5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58B8DE-87DA-D3AB-F96D-20EDAD5D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" y="0"/>
            <a:ext cx="11330848" cy="665018"/>
          </a:xfrm>
        </p:spPr>
        <p:txBody>
          <a:bodyPr anchor="ctr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E7FCCF-1E53-D6C0-4E28-D4B3E747CA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152" y="856211"/>
            <a:ext cx="11330848" cy="544298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0F36EFA6-130C-FA8D-C5D6-428A4DBE85D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6CE4045-89A4-3642-BB7B-0549E6B89385}" type="datetime1">
              <a:rPr lang="en-US" smtClean="0"/>
              <a:t>10/5/26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41FF924-BF10-973F-4CA4-92DD7365316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1173E25-95C3-DD2A-1311-722C25C9576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647674B7-1E96-884B-981B-F2348E1A9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20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58B8DE-87DA-D3AB-F96D-20EDAD5D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" y="351362"/>
            <a:ext cx="11330848" cy="665018"/>
          </a:xfrm>
        </p:spPr>
        <p:txBody>
          <a:bodyPr anchor="ctr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E7FCCF-1E53-D6C0-4E28-D4B3E747CA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152" y="1214846"/>
            <a:ext cx="11330848" cy="5084354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0F36EFA6-130C-FA8D-C5D6-428A4DBE85D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053DC22-FBBD-8144-9CDB-8AF233015B49}" type="datetime1">
              <a:rPr lang="en-US" smtClean="0"/>
              <a:t>10/5/26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41FF924-BF10-973F-4CA4-92DD7365316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1173E25-95C3-DD2A-1311-722C25C9576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647674B7-1E96-884B-981B-F2348E1A98F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6B674-298A-23BA-9829-39AC24B307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152" y="76448"/>
            <a:ext cx="2983682" cy="275806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571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58B8DE-87DA-D3AB-F96D-20EDAD5D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10668000" cy="106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E7FCCF-1E53-D6C0-4E28-D4B3E747CA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0" y="5476240"/>
            <a:ext cx="10668000" cy="822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B1BE3-710C-7AF3-4F5F-C87EAFE29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36" y="1096550"/>
            <a:ext cx="6156328" cy="92358"/>
          </a:xfrm>
          <a:prstGeom prst="rect">
            <a:avLst/>
          </a:prstGeom>
          <a:gradFill flip="none" rotWithShape="1">
            <a:gsLst>
              <a:gs pos="35000">
                <a:srgbClr val="D34D4D"/>
              </a:gs>
              <a:gs pos="97000">
                <a:schemeClr val="bg1"/>
              </a:gs>
              <a:gs pos="0">
                <a:srgbClr val="C00000"/>
              </a:gs>
              <a:gs pos="7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1173E25-95C3-DD2A-1311-722C25C9576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B1243-DD01-B30D-D4A2-D1595E1A8A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000" y="1246058"/>
            <a:ext cx="10668000" cy="41085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9340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7A194C-A4B8-2148-8BE0-5451BAAC5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4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C912DB-E11B-3D4C-9D09-221D4E87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024128"/>
            <a:ext cx="11163300" cy="5825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3DBCEB-EA83-B646-A716-9EAB713C5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4226928"/>
            <a:ext cx="5264150" cy="354459"/>
          </a:xfrm>
        </p:spPr>
        <p:txBody>
          <a:bodyPr>
            <a:noAutofit/>
          </a:bodyPr>
          <a:lstStyle>
            <a:lvl1pPr marL="0" indent="0">
              <a:buNone/>
              <a:defRPr sz="23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/>
              <a:t>Insert subtitle if needed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2A8E911-3157-1444-8D3E-B3404B047192}"/>
              </a:ext>
            </a:extLst>
          </p:cNvPr>
          <p:cNvSpPr/>
          <p:nvPr/>
        </p:nvSpPr>
        <p:spPr>
          <a:xfrm>
            <a:off x="8714232" y="1024128"/>
            <a:ext cx="2449068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B6D0D8-B441-B94F-81C3-D858DB039304}"/>
              </a:ext>
            </a:extLst>
          </p:cNvPr>
          <p:cNvSpPr/>
          <p:nvPr/>
        </p:nvSpPr>
        <p:spPr>
          <a:xfrm>
            <a:off x="11507059" y="0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54FEC2B-37AF-0F44-BE06-966950F82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4318" y="222225"/>
            <a:ext cx="456122" cy="71676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EB6C9F2-5465-8D47-8351-B6B681C45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85900" y="4007404"/>
            <a:ext cx="471523" cy="94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C382C-FEDF-9251-E54F-141B8D210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5900" y="2514600"/>
            <a:ext cx="8279202" cy="1367286"/>
          </a:xfrm>
        </p:spPr>
        <p:txBody>
          <a:bodyPr rIns="9144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4165987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7BF5E0-9683-0ECC-4BB7-44FAB28C32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494" y="0"/>
            <a:ext cx="11135011" cy="574723"/>
          </a:xfrm>
        </p:spPr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/>
              <a:t>Insert slide title in title or sentence case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ED3E70-BC3F-B808-91A1-F46DC55A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24A4-4790-2048-B481-31778D2F167E}" type="datetime1">
              <a:rPr lang="en-US" smtClean="0"/>
              <a:t>10/5/26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BB22A6-1860-8FC1-7E80-63BA4BDD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481EE2-6797-F391-EB38-F13B12CC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74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D614-EDF6-8AD1-02DA-1BBA71DA17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80753"/>
            <a:ext cx="10668000" cy="180753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/>
              <a:t>Blank Slide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7F1E41E-C7BA-BE47-AEDC-13D87A97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7BB8-0F07-7744-813C-9267257334A0}" type="datetime1">
              <a:rPr lang="en-US" smtClean="0"/>
              <a:t>10/5/26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C4C51E-00EF-893F-6195-05960684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BBDD5B-4351-F55F-E67B-B5FC1349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5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5D359-7029-C74B-8048-D1347E3F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W–Madison logo in white text on a red background">
            <a:extLst>
              <a:ext uri="{FF2B5EF4-FFF2-40B4-BE49-F238E27FC236}">
                <a16:creationId xmlns:a16="http://schemas.microsoft.com/office/drawing/2014/main" id="{9442AFA6-CAED-D743-9BD0-FB7276EC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78A76A-7D1D-3E85-0AC5-9B02E65F2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80060"/>
            <a:ext cx="10668000" cy="170121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704662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5D359-7029-C74B-8048-D1347E3F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W–Madison logo with white text on a black background">
            <a:extLst>
              <a:ext uri="{FF2B5EF4-FFF2-40B4-BE49-F238E27FC236}">
                <a16:creationId xmlns:a16="http://schemas.microsoft.com/office/drawing/2014/main" id="{9442AFA6-CAED-D743-9BD0-FB7276EC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8DEFCB-76DD-8C96-B6DC-4040B702AD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01325"/>
            <a:ext cx="10668000" cy="191386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298044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1B85-7D32-3DF4-4059-DD3BB77B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75E8A-9D65-92F8-F0DF-33F6213E2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B85B8-417F-4CBA-84E6-295DA5A96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826C-1E9A-8048-9D7A-4F214AC5BA85}" type="datetime1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F5C8F-07E1-A26C-721C-434A0DBC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C36A3-F7F3-B035-7F97-9B3D9CE7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35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85B4-A326-2641-AD67-CD27C546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58"/>
            <a:ext cx="10515600" cy="6527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38E8C-18CB-1D1A-6602-A86CC3ADC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2320"/>
            <a:ext cx="10515600" cy="5394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262F6-677C-5D4F-A56D-B235C2AF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5FCF3-F022-D644-9906-31A9A7245B30}" type="datetime1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1407D-FD12-647F-45C4-E326C21C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F4994-AD8B-2657-F5CC-FE69ACE7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8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66502"/>
            <a:ext cx="10668000" cy="64008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938988"/>
            <a:ext cx="9677400" cy="533746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1B1986-83A7-3542-BAD9-60B6AA5AD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07059" y="0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red crest logo&#10;">
            <a:extLst>
              <a:ext uri="{FF2B5EF4-FFF2-40B4-BE49-F238E27FC236}">
                <a16:creationId xmlns:a16="http://schemas.microsoft.com/office/drawing/2014/main" id="{0E552B7F-AB27-DB49-8004-05CB2856796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64318" y="222225"/>
            <a:ext cx="456122" cy="7167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3B645-3114-CC40-CDEF-774F5444F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D7ABF-2FD4-0F23-781F-077E8FEAD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defRPr>
            </a:lvl1pPr>
          </a:lstStyle>
          <a:p>
            <a:fld id="{647674B7-1E96-884B-981B-F2348E1A98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1B319F1-4EC2-D1EF-6683-5A5E61B5C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766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defRPr>
            </a:lvl1pPr>
          </a:lstStyle>
          <a:p>
            <a:fld id="{00BCFD99-58A5-514B-8DDB-32BF9A1D8DE4}" type="datetime1">
              <a:rPr lang="en-US" smtClean="0"/>
              <a:t>10/5/26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1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  <p:sldLayoutId id="2147483672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+mj-lt"/>
          <a:ea typeface="CMU Serif" panose="02000603000000000000" pitchFamily="2" charset="0"/>
          <a:cs typeface="CMU Serif" panose="02000603000000000000" pitchFamily="2" charset="0"/>
        </a:defRPr>
      </a:lvl1pPr>
    </p:titleStyle>
    <p:bodyStyle>
      <a:lvl1pPr marL="176213" indent="-176213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2400" b="0" i="0" kern="1200">
          <a:solidFill>
            <a:schemeClr val="tx1"/>
          </a:solidFill>
          <a:latin typeface="+mn-lt"/>
          <a:ea typeface="CMU Serif Roman" panose="02000603000000000000" pitchFamily="2" charset="0"/>
          <a:cs typeface="CMU Serif Roman" panose="02000603000000000000" pitchFamily="2" charset="0"/>
        </a:defRPr>
      </a:lvl1pPr>
      <a:lvl2pPr marL="6350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tx1"/>
          </a:solidFill>
          <a:latin typeface="+mn-lt"/>
          <a:ea typeface="CMU Serif Roman" panose="02000603000000000000" pitchFamily="2" charset="0"/>
          <a:cs typeface="CMU Serif Roman" panose="02000603000000000000" pitchFamily="2" charset="0"/>
        </a:defRPr>
      </a:lvl2pPr>
      <a:lvl3pPr marL="10922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tx1"/>
          </a:solidFill>
          <a:latin typeface="+mn-lt"/>
          <a:ea typeface="CMU Serif Roman" panose="02000603000000000000" pitchFamily="2" charset="0"/>
          <a:cs typeface="CMU Serif Roman" panose="02000603000000000000" pitchFamily="2" charset="0"/>
        </a:defRPr>
      </a:lvl3pPr>
      <a:lvl4pPr marL="15430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tx1"/>
          </a:solidFill>
          <a:latin typeface="+mn-lt"/>
          <a:ea typeface="CMU Serif Roman" panose="02000603000000000000" pitchFamily="2" charset="0"/>
          <a:cs typeface="CMU Serif Roman" panose="02000603000000000000" pitchFamily="2" charset="0"/>
        </a:defRPr>
      </a:lvl4pPr>
      <a:lvl5pPr marL="2001838" indent="-1730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tx1"/>
          </a:solidFill>
          <a:latin typeface="+mn-lt"/>
          <a:ea typeface="CMU Serif Roman" panose="02000603000000000000" pitchFamily="2" charset="0"/>
          <a:cs typeface="CMU Serif Roman" panose="02000603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>
          <p15:clr>
            <a:srgbClr val="F26B43"/>
          </p15:clr>
        </p15:guide>
        <p15:guide id="2" pos="72">
          <p15:clr>
            <a:srgbClr val="F26B43"/>
          </p15:clr>
        </p15:guide>
        <p15:guide id="3" pos="7608">
          <p15:clr>
            <a:srgbClr val="F26B43"/>
          </p15:clr>
        </p15:guide>
        <p15:guide id="4" pos="312">
          <p15:clr>
            <a:srgbClr val="F26B43"/>
          </p15:clr>
        </p15:guide>
        <p15:guide id="5" pos="7248">
          <p15:clr>
            <a:srgbClr val="F26B43"/>
          </p15:clr>
        </p15:guide>
        <p15:guide id="6" orient="horz" pos="4248">
          <p15:clr>
            <a:srgbClr val="F26B43"/>
          </p15:clr>
        </p15:guide>
        <p15:guide id="7" orient="horz" pos="288">
          <p15:clr>
            <a:srgbClr val="F26B43"/>
          </p15:clr>
        </p15:guide>
        <p15:guide id="8" orient="horz" pos="960">
          <p15:clr>
            <a:srgbClr val="F26B43"/>
          </p15:clr>
        </p15:guide>
        <p15:guide id="9" pos="7032">
          <p15:clr>
            <a:srgbClr val="F26B43"/>
          </p15:clr>
        </p15:guide>
        <p15:guide id="10" pos="936">
          <p15:clr>
            <a:srgbClr val="F26B43"/>
          </p15:clr>
        </p15:guide>
        <p15:guide id="11" orient="horz" pos="1152">
          <p15:clr>
            <a:srgbClr val="F26B43"/>
          </p15:clr>
        </p15:guide>
        <p15:guide id="12" orient="horz" pos="3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1703.00443" TargetMode="External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3.emf"/><Relationship Id="rId7" Type="http://schemas.openxmlformats.org/officeDocument/2006/relationships/image" Target="../media/image26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hyperlink" Target="https://doi.org/10.48550/arXiv.1703.00443" TargetMode="External"/><Relationship Id="rId9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1081-026-10079-4" TargetMode="External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8913B4-97D5-423D-F217-6A4689F27C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ISyE</a:t>
            </a:r>
            <a:r>
              <a:rPr lang="en-US"/>
              <a:t> 823 – MINLP</a:t>
            </a:r>
          </a:p>
          <a:p>
            <a:r>
              <a:rPr lang="en-US"/>
              <a:t>April 30,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6E18C-D0A1-4D64-5336-1CDBE745D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Parth Brahmbhatt and Kiernan Jennings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0DFCBE-8A75-A117-5628-29498C8D6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888" y="905690"/>
            <a:ext cx="8444512" cy="2106570"/>
          </a:xfrm>
        </p:spPr>
        <p:txBody>
          <a:bodyPr>
            <a:normAutofit fontScale="90000"/>
          </a:bodyPr>
          <a:lstStyle/>
          <a:p>
            <a:r>
              <a:rPr lang="en-US" dirty="0"/>
              <a:t>Decision-Focused Surrogate Modeling for Convex MINLP Via Neural Differentiable Optimization Layers</a:t>
            </a:r>
          </a:p>
        </p:txBody>
      </p:sp>
    </p:spTree>
    <p:extLst>
      <p:ext uri="{BB962C8B-B14F-4D97-AF65-F5344CB8AC3E}">
        <p14:creationId xmlns:p14="http://schemas.microsoft.com/office/powerpoint/2010/main" val="2986261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B0296-3C14-0D48-F925-2E9CB267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Motivation: The Need for Real-Time MINLP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DC4FC-6F26-6983-1D99-F10F3BF2B77D}"/>
              </a:ext>
            </a:extLst>
          </p:cNvPr>
          <p:cNvSpPr txBox="1"/>
          <p:nvPr/>
        </p:nvSpPr>
        <p:spPr>
          <a:xfrm>
            <a:off x="953091" y="989807"/>
            <a:ext cx="96229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Convex MINLPs are essential for modeling modern advanced engineering, energy, and control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Solving these problems traditionally relies on branch-and-bound algorithms, which are too slow for real-time applications.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systems (like hybrid vehicles or power grids) require optimal decisions in milliseconds, not minutes.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D70C2D-D431-703A-FBEE-D956F0C231B1}"/>
              </a:ext>
            </a:extLst>
          </p:cNvPr>
          <p:cNvSpPr txBox="1"/>
          <p:nvPr/>
        </p:nvSpPr>
        <p:spPr>
          <a:xfrm>
            <a:off x="626535" y="4228191"/>
            <a:ext cx="10452926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Use surrogate models </a:t>
            </a:r>
            <a:r>
              <a:rPr lang="en-US" sz="2000" dirty="0"/>
              <a:t>to approximate the complex parts in the original optimization problem.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7BE01-8F6F-56AC-2D2D-B4CC002DEF86}"/>
              </a:ext>
            </a:extLst>
          </p:cNvPr>
          <p:cNvSpPr txBox="1"/>
          <p:nvPr/>
        </p:nvSpPr>
        <p:spPr>
          <a:xfrm>
            <a:off x="0" y="6627168"/>
            <a:ext cx="83341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Dixit, S., Gupta, R. and Zhang, Q., 2024. Decision-focused surrogate modeling for mixed-integer linear optimization. </a:t>
            </a:r>
            <a:r>
              <a:rPr lang="en-US" sz="900" b="0" i="1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9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arXiv:2406.05697</a:t>
            </a:r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9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F952B5-87A1-8879-FEFA-8D251140D30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5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18405-B5A6-31D4-4803-DAE989C5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F1736-641B-2157-770D-A9970776CA3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2850" y="857451"/>
            <a:ext cx="10787150" cy="5442989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Surrogate Optimization Literature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Decision-Focused Surrogates Optimization Models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Embedding Differentiable Optimization Layers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Case Study: Hybrid Vehicle Control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Case Study: AC Optimal Power Flow with Unit Commitment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31DA1-DA2C-2159-885B-B120F33735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6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370B-9192-1405-BC75-B1E874B5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Surrogate Optimization Literature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23F1E3-041C-E207-958F-952347571EC1}"/>
              </a:ext>
            </a:extLst>
          </p:cNvPr>
          <p:cNvSpPr txBox="1"/>
          <p:nvPr/>
        </p:nvSpPr>
        <p:spPr>
          <a:xfrm>
            <a:off x="696188" y="1053737"/>
            <a:ext cx="98760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Multi-Parametric Programming: (</a:t>
            </a:r>
            <a:r>
              <a:rPr lang="en-US" b="1" dirty="0" err="1"/>
              <a:t>Pistikopoulos</a:t>
            </a:r>
            <a:r>
              <a:rPr lang="en-US" b="1" dirty="0"/>
              <a:t> et al., 2002)  </a:t>
            </a:r>
            <a:r>
              <a:rPr lang="en-US" dirty="0"/>
              <a:t>Provides exact maps from inputs to optimal solutions via critical regions but faces exponential complexity as problem size increases.</a:t>
            </a:r>
          </a:p>
          <a:p>
            <a:endParaRPr lang="en-US" dirty="0"/>
          </a:p>
          <a:p>
            <a:r>
              <a:rPr lang="en-US" b="1" dirty="0"/>
              <a:t>Learning Active Constraints: (Bertsimas &amp; Stellato, 2022) </a:t>
            </a:r>
            <a:r>
              <a:rPr lang="en-US" dirty="0"/>
              <a:t>Focus on predicting the set of active constraints at the optimal solution to enable online optimization.</a:t>
            </a:r>
          </a:p>
          <a:p>
            <a:endParaRPr lang="en-US" dirty="0"/>
          </a:p>
          <a:p>
            <a:r>
              <a:rPr lang="en-US" b="1" dirty="0"/>
              <a:t>ML-Enhanced Branching: (Lodi &amp; Zarpellon, 2017) </a:t>
            </a:r>
            <a:r>
              <a:rPr lang="en-US" dirty="0"/>
              <a:t>Utilize machine learning to learn more effective branching rules within the branch-and-bound tree.</a:t>
            </a:r>
          </a:p>
          <a:p>
            <a:endParaRPr lang="en-US" dirty="0"/>
          </a:p>
          <a:p>
            <a:r>
              <a:rPr lang="en-US" b="1" dirty="0"/>
              <a:t>Neural Cutting Planes: (Deza &amp; Khalil, 2023) </a:t>
            </a:r>
            <a:r>
              <a:rPr lang="en-US" dirty="0"/>
              <a:t>Data-driven strategies to improve the selection and generation of cutting planes for integer programming.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C98A9-E285-3707-2687-4C03B42DBD41}"/>
              </a:ext>
            </a:extLst>
          </p:cNvPr>
          <p:cNvSpPr txBox="1"/>
          <p:nvPr/>
        </p:nvSpPr>
        <p:spPr>
          <a:xfrm>
            <a:off x="0" y="6073170"/>
            <a:ext cx="833410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</a:t>
            </a:r>
            <a:r>
              <a:rPr lang="en-US" sz="900" b="0" i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Pistikopoulos</a:t>
            </a:r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E.N., </a:t>
            </a:r>
            <a:r>
              <a:rPr lang="en-US" sz="900" b="0" i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Diangelakis</a:t>
            </a:r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N.A. and </a:t>
            </a:r>
            <a:r>
              <a:rPr lang="en-US" sz="900" b="0" i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Oberdieck</a:t>
            </a:r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R., 2020. Multi-parametric optimization and control. John Wiley &amp; Sons.</a:t>
            </a:r>
          </a:p>
          <a:p>
            <a:r>
              <a:rPr lang="en-US" sz="900">
                <a:solidFill>
                  <a:srgbClr val="222222"/>
                </a:solidFill>
                <a:latin typeface="Arial" panose="020B0604020202020204" pitchFamily="34" charset="0"/>
              </a:rPr>
              <a:t>[2] Bertsimas, D. and Stellato, B., 2022. Online mixed-integer optimization in milliseconds. INFORMS Journal on Computing, 34(4), pp.2229-2248.</a:t>
            </a:r>
          </a:p>
          <a:p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[3] Lodi, A. and Zarpellon, G., 2017. On learning and branching: a survey. Top, 25(2), pp.207-236.</a:t>
            </a:r>
          </a:p>
          <a:p>
            <a:r>
              <a:rPr lang="en-US" sz="900">
                <a:solidFill>
                  <a:srgbClr val="222222"/>
                </a:solidFill>
                <a:latin typeface="Arial" panose="020B0604020202020204" pitchFamily="34" charset="0"/>
              </a:rPr>
              <a:t>[4] Deza, A. and Khalil, E.B., 2023. Machine learning for cutting planes in integer programming: A survey. </a:t>
            </a:r>
            <a:r>
              <a:rPr lang="en-US" sz="900" err="1">
                <a:solidFill>
                  <a:srgbClr val="222222"/>
                </a:solidFill>
                <a:latin typeface="Arial" panose="020B0604020202020204" pitchFamily="34" charset="0"/>
              </a:rPr>
              <a:t>arXiv</a:t>
            </a:r>
            <a:r>
              <a:rPr lang="en-US" sz="900">
                <a:solidFill>
                  <a:srgbClr val="222222"/>
                </a:solidFill>
                <a:latin typeface="Arial" panose="020B0604020202020204" pitchFamily="34" charset="0"/>
              </a:rPr>
              <a:t> preprint arXiv:2302.09166.</a:t>
            </a:r>
          </a:p>
          <a:p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[5] Dixit, S., Gupta, R. and Zhang, Q., 2024. Decision-focused surrogate modeling for mixed-integer linear optimization. </a:t>
            </a:r>
            <a:r>
              <a:rPr lang="en-US" sz="900" b="0" i="1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9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arXiv:2406.05697</a:t>
            </a:r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9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AC987-946D-0C6C-57CC-358EE6FE9B64}"/>
              </a:ext>
            </a:extLst>
          </p:cNvPr>
          <p:cNvSpPr txBox="1"/>
          <p:nvPr/>
        </p:nvSpPr>
        <p:spPr>
          <a:xfrm>
            <a:off x="2218071" y="4738596"/>
            <a:ext cx="77558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Decision-Focused (DF) Surrogate Modeling for MILPs (</a:t>
            </a: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Zhang et al., 2025)</a:t>
            </a:r>
            <a:endParaRPr lang="en-US" b="1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052FBB4-B48E-0353-0A9D-7E5B13CFEB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A7173-83AC-9CF2-5141-56802D9A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ED11-32CE-7773-DDFC-27A9B2E0D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Decision-Focused (DF) Surrogate Modeling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4E64C3-0BED-03F1-EB3A-8C307F206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112" y="1126683"/>
            <a:ext cx="2556464" cy="14030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284CDD-95D4-11C1-6344-0C7FB4800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204" y="1126683"/>
            <a:ext cx="2592266" cy="1565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D36658-9F50-D0F2-5397-9099FEA60000}"/>
              </a:ext>
            </a:extLst>
          </p:cNvPr>
          <p:cNvSpPr txBox="1"/>
          <p:nvPr/>
        </p:nvSpPr>
        <p:spPr>
          <a:xfrm>
            <a:off x="3651924" y="721337"/>
            <a:ext cx="1497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Original MILP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6ABC9-D660-9E75-244F-FD86F59FEC24}"/>
              </a:ext>
            </a:extLst>
          </p:cNvPr>
          <p:cNvSpPr txBox="1"/>
          <p:nvPr/>
        </p:nvSpPr>
        <p:spPr>
          <a:xfrm>
            <a:off x="7354642" y="721337"/>
            <a:ext cx="14253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LP surrogate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2532E-B06C-5ED8-8D8F-411CE62BA7EF}"/>
              </a:ext>
            </a:extLst>
          </p:cNvPr>
          <p:cNvSpPr txBox="1"/>
          <p:nvPr/>
        </p:nvSpPr>
        <p:spPr>
          <a:xfrm>
            <a:off x="9023928" y="1579983"/>
            <a:ext cx="173092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Original Constraints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97720-0220-4667-3D57-995962C3AA3C}"/>
              </a:ext>
            </a:extLst>
          </p:cNvPr>
          <p:cNvSpPr txBox="1"/>
          <p:nvPr/>
        </p:nvSpPr>
        <p:spPr>
          <a:xfrm>
            <a:off x="9363470" y="1989447"/>
            <a:ext cx="1760225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Learned Constraints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E50C1E-C820-BBEC-AAFF-7F0100828F38}"/>
              </a:ext>
            </a:extLst>
          </p:cNvPr>
          <p:cNvSpPr txBox="1"/>
          <p:nvPr/>
        </p:nvSpPr>
        <p:spPr>
          <a:xfrm>
            <a:off x="8340178" y="2341060"/>
            <a:ext cx="160383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Relaxed Integrality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4AD72-FDAD-2AFA-E028-2B94C5117179}"/>
              </a:ext>
            </a:extLst>
          </p:cNvPr>
          <p:cNvSpPr txBox="1"/>
          <p:nvPr/>
        </p:nvSpPr>
        <p:spPr>
          <a:xfrm>
            <a:off x="1136660" y="3988326"/>
            <a:ext cx="1817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Data Generation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84BCC7-B98B-679D-9CE9-2C1B5A62F2E1}"/>
                  </a:ext>
                </a:extLst>
              </p:cNvPr>
              <p:cNvSpPr txBox="1"/>
              <p:nvPr/>
            </p:nvSpPr>
            <p:spPr>
              <a:xfrm>
                <a:off x="1586535" y="4629418"/>
                <a:ext cx="2556464" cy="9233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samples </a:t>
                </a:r>
              </a:p>
              <a:p>
                <a:r>
                  <a:rPr lang="en-US" dirty="0"/>
                  <a:t>with different instances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parameter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84BCC7-B98B-679D-9CE9-2C1B5A62F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535" y="4629418"/>
                <a:ext cx="2556464" cy="923330"/>
              </a:xfrm>
              <a:prstGeom prst="rect">
                <a:avLst/>
              </a:prstGeom>
              <a:blipFill>
                <a:blip r:embed="rId4"/>
                <a:stretch>
                  <a:fillRect l="-1970" t="-2703" r="-985" b="-94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D05430-4352-0F8A-4EB5-4B2FEDDC8B38}"/>
                  </a:ext>
                </a:extLst>
              </p:cNvPr>
              <p:cNvSpPr txBox="1"/>
              <p:nvPr/>
            </p:nvSpPr>
            <p:spPr>
              <a:xfrm>
                <a:off x="5371049" y="4767917"/>
                <a:ext cx="2133600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Solve MILP problem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/>
                  <a:t> times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D05430-4352-0F8A-4EB5-4B2FEDDC8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049" y="4767917"/>
                <a:ext cx="2133600" cy="646331"/>
              </a:xfrm>
              <a:prstGeom prst="rect">
                <a:avLst/>
              </a:prstGeom>
              <a:blipFill>
                <a:blip r:embed="rId5"/>
                <a:stretch>
                  <a:fillRect l="-1775" t="-3846" r="-4734" b="-13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9371BA-9611-F574-716D-3E008985D4DE}"/>
                  </a:ext>
                </a:extLst>
              </p:cNvPr>
              <p:cNvSpPr txBox="1"/>
              <p:nvPr/>
            </p:nvSpPr>
            <p:spPr>
              <a:xfrm>
                <a:off x="8484287" y="4767917"/>
                <a:ext cx="1758366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/>
                  <a:t>Generate labels</a:t>
                </a:r>
                <a:br>
                  <a:rPr lang="en-US"/>
                </a:br>
                <a14:m>
                  <m:oMathPara xmlns:m="http://schemas.openxmlformats.org/officeDocument/2006/math">
                    <m:oMath>
                      <m:r>
                        <a:rPr lang="en-US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9371BA-9611-F574-716D-3E008985D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287" y="4767917"/>
                <a:ext cx="1758366" cy="646331"/>
              </a:xfrm>
              <a:prstGeom prst="rect">
                <a:avLst/>
              </a:prstGeom>
              <a:blipFill>
                <a:blip r:embed="rId6"/>
                <a:stretch>
                  <a:fillRect l="-3597" t="-3846" r="-21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3992C6-0FF1-0210-3A27-3DBDF04BCEC3}"/>
                  </a:ext>
                </a:extLst>
              </p:cNvPr>
              <p:cNvSpPr txBox="1"/>
              <p:nvPr/>
            </p:nvSpPr>
            <p:spPr>
              <a:xfrm>
                <a:off x="7504649" y="2749321"/>
                <a:ext cx="2915926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400"/>
                  <a:t> is </a:t>
                </a:r>
                <a:r>
                  <a:rPr lang="en-US" sz="1400" dirty="0"/>
                  <a:t>learned coefficients </a:t>
                </a:r>
                <a:r>
                  <a:rPr lang="en-US" sz="1400"/>
                  <a:t>of function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3992C6-0FF1-0210-3A27-3DBDF04BC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649" y="2749321"/>
                <a:ext cx="2915926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3D3BE1-2CBC-ECF5-73CB-9545E2C7FC9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4142999" y="5091083"/>
            <a:ext cx="1228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1F3EBE-6A99-15B8-8461-8CE5EE338C66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504649" y="5091083"/>
            <a:ext cx="979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DCF7518-5506-5E22-5675-ED4A7AE6BE65}"/>
                  </a:ext>
                </a:extLst>
              </p:cNvPr>
              <p:cNvSpPr txBox="1"/>
              <p:nvPr/>
            </p:nvSpPr>
            <p:spPr>
              <a:xfrm>
                <a:off x="881282" y="1365279"/>
                <a:ext cx="1649482" cy="74965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400"/>
                  <a:t>  input parameter changes with different instances  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DCF7518-5506-5E22-5675-ED4A7AE6B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82" y="1365279"/>
                <a:ext cx="1649482" cy="749658"/>
              </a:xfrm>
              <a:prstGeom prst="rect">
                <a:avLst/>
              </a:prstGeom>
              <a:blipFill>
                <a:blip r:embed="rId8"/>
                <a:stretch>
                  <a:fillRect l="-1527" t="-1639" r="-5344" b="-49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CDB0567E-C8C3-382A-D2E6-1B59AB17628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5</a:t>
            </a:fld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BAD1A7-789F-0FB2-6902-24DE163C99DE}"/>
              </a:ext>
            </a:extLst>
          </p:cNvPr>
          <p:cNvSpPr txBox="1"/>
          <p:nvPr/>
        </p:nvSpPr>
        <p:spPr>
          <a:xfrm>
            <a:off x="0" y="6627168"/>
            <a:ext cx="83341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Dixit, S., Gupta, R. and Zhang, Q., 2024. Decision-focused surrogate modeling for mixed-integer linear optimization. </a:t>
            </a:r>
            <a:r>
              <a:rPr lang="en-US" sz="900" b="0" i="1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9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arXiv:2406.05697</a:t>
            </a:r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96223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05F9-7909-5277-DD5D-C7123DA80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D96F-495C-C723-916B-B783A8A6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DF Surrogate Modeling &amp; Bilevel Formulation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F48DD-E280-7C44-6504-358BA52EB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888" y="3979644"/>
            <a:ext cx="7772400" cy="17189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721487-9059-892A-4053-0AE2D0F40A48}"/>
              </a:ext>
            </a:extLst>
          </p:cNvPr>
          <p:cNvSpPr txBox="1"/>
          <p:nvPr/>
        </p:nvSpPr>
        <p:spPr>
          <a:xfrm>
            <a:off x="1951654" y="3633764"/>
            <a:ext cx="1188082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/>
              <a:t>True solution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6EF2CB-4556-B8A2-0B2A-0DCD0991C2B8}"/>
              </a:ext>
            </a:extLst>
          </p:cNvPr>
          <p:cNvSpPr txBox="1"/>
          <p:nvPr/>
        </p:nvSpPr>
        <p:spPr>
          <a:xfrm>
            <a:off x="4291302" y="3607235"/>
            <a:ext cx="1603452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Surrogate solution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744C51-58D0-9FC7-97FF-2100996ECABC}"/>
              </a:ext>
            </a:extLst>
          </p:cNvPr>
          <p:cNvSpPr txBox="1"/>
          <p:nvPr/>
        </p:nvSpPr>
        <p:spPr>
          <a:xfrm>
            <a:off x="9794522" y="4228649"/>
            <a:ext cx="1431930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Training Dataset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ADC593-F861-D1CE-1EFE-510A83365B7E}"/>
              </a:ext>
            </a:extLst>
          </p:cNvPr>
          <p:cNvSpPr txBox="1"/>
          <p:nvPr/>
        </p:nvSpPr>
        <p:spPr>
          <a:xfrm>
            <a:off x="1226082" y="5913950"/>
            <a:ext cx="9117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Single leader Multi-follower Bilevel Problem (For each data sample lower-level problem)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B18B01A-D038-33E5-B982-C2AAD6AFA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112" y="1126683"/>
            <a:ext cx="2556464" cy="14030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04A34F8-F9F7-72D9-9EC0-3DF05908F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204" y="1126683"/>
            <a:ext cx="2592266" cy="156599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B7701D0-3103-E020-63BA-0AD2EC39E586}"/>
              </a:ext>
            </a:extLst>
          </p:cNvPr>
          <p:cNvSpPr txBox="1"/>
          <p:nvPr/>
        </p:nvSpPr>
        <p:spPr>
          <a:xfrm>
            <a:off x="3651924" y="721337"/>
            <a:ext cx="1497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Original MILP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D9E7ED-1B55-60D4-A3E8-5EA81B3BF9AA}"/>
              </a:ext>
            </a:extLst>
          </p:cNvPr>
          <p:cNvSpPr txBox="1"/>
          <p:nvPr/>
        </p:nvSpPr>
        <p:spPr>
          <a:xfrm>
            <a:off x="7354642" y="721337"/>
            <a:ext cx="14253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LP surrogate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108E88F-E298-3D88-CB9F-4729641CC526}"/>
                  </a:ext>
                </a:extLst>
              </p:cNvPr>
              <p:cNvSpPr txBox="1"/>
              <p:nvPr/>
            </p:nvSpPr>
            <p:spPr>
              <a:xfrm>
                <a:off x="881282" y="1365279"/>
                <a:ext cx="1649482" cy="74965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400"/>
                  <a:t>  input parameter changes with different instances   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108E88F-E298-3D88-CB9F-4729641CC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82" y="1365279"/>
                <a:ext cx="1649482" cy="749658"/>
              </a:xfrm>
              <a:prstGeom prst="rect">
                <a:avLst/>
              </a:prstGeom>
              <a:blipFill>
                <a:blip r:embed="rId5"/>
                <a:stretch>
                  <a:fillRect l="-1527" t="-1639" r="-5344" b="-49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2FAE9EBA-92F4-4A05-0B8A-839B03D7C3FA}"/>
              </a:ext>
            </a:extLst>
          </p:cNvPr>
          <p:cNvSpPr txBox="1"/>
          <p:nvPr/>
        </p:nvSpPr>
        <p:spPr>
          <a:xfrm>
            <a:off x="9023928" y="1579983"/>
            <a:ext cx="173092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Original Constraints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EA6E5A-CDCA-26CC-7140-AAE7EEA569AE}"/>
              </a:ext>
            </a:extLst>
          </p:cNvPr>
          <p:cNvSpPr txBox="1"/>
          <p:nvPr/>
        </p:nvSpPr>
        <p:spPr>
          <a:xfrm>
            <a:off x="9363470" y="1989447"/>
            <a:ext cx="1760225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Learned Constraints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6DA6F2-A9F3-93D7-D780-D8A6A2B3BDE0}"/>
              </a:ext>
            </a:extLst>
          </p:cNvPr>
          <p:cNvSpPr txBox="1"/>
          <p:nvPr/>
        </p:nvSpPr>
        <p:spPr>
          <a:xfrm>
            <a:off x="8340178" y="2341060"/>
            <a:ext cx="160383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Relaxed Integrality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0A46C33-BCFB-8347-5003-F7FC808A45CF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139736" y="3787653"/>
            <a:ext cx="240773" cy="440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5EF9B0-7414-0040-6C77-CCF00DDD0B3A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953164" y="3761124"/>
            <a:ext cx="338138" cy="345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0E45061-AD54-D8CA-C8A7-18DE93A19D43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9559636" y="4382538"/>
            <a:ext cx="234886" cy="365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482E705-08FE-ACF1-8C7D-7B81516286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6</a:t>
            </a:fld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8281D9-07FC-D3BD-047C-BE021AD97416}"/>
              </a:ext>
            </a:extLst>
          </p:cNvPr>
          <p:cNvSpPr txBox="1"/>
          <p:nvPr/>
        </p:nvSpPr>
        <p:spPr>
          <a:xfrm>
            <a:off x="0" y="6627168"/>
            <a:ext cx="83341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rgbClr val="222222"/>
                </a:solidFill>
                <a:latin typeface="Arial" panose="020B0604020202020204" pitchFamily="34" charset="0"/>
              </a:rPr>
              <a:t>[1] </a:t>
            </a:r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Dixit, S., Gupta, R. and Zhang, Q., 2024. Decision-focused surrogate modeling for mixed-integer linear optimization. </a:t>
            </a:r>
            <a:r>
              <a:rPr lang="en-US" sz="900" b="0" i="1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9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arXiv:2406.05697</a:t>
            </a:r>
            <a:r>
              <a:rPr lang="en-US" sz="9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C53EB3-642D-4554-A756-C74302B3037B}"/>
                  </a:ext>
                </a:extLst>
              </p:cNvPr>
              <p:cNvSpPr txBox="1"/>
              <p:nvPr/>
            </p:nvSpPr>
            <p:spPr>
              <a:xfrm>
                <a:off x="7504649" y="2749321"/>
                <a:ext cx="2915926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400" dirty="0"/>
                  <a:t> is learned coefficients of function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C53EB3-642D-4554-A756-C74302B30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649" y="2749321"/>
                <a:ext cx="2915926" cy="307777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1299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4F5F8-B8EB-D907-246B-281541F5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39E7F-C1F1-2771-AEED-0AE8446E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Approach for Convex MINLP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B8E9E5-AFE5-F04D-04F1-D88584C37899}"/>
                  </a:ext>
                </a:extLst>
              </p:cNvPr>
              <p:cNvSpPr txBox="1"/>
              <p:nvPr/>
            </p:nvSpPr>
            <p:spPr>
              <a:xfrm>
                <a:off x="273625" y="1297351"/>
                <a:ext cx="1649482" cy="74965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400"/>
                  <a:t>  input parameter changes with different instances 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B8E9E5-AFE5-F04D-04F1-D88584C37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25" y="1297351"/>
                <a:ext cx="1649482" cy="749658"/>
              </a:xfrm>
              <a:prstGeom prst="rect">
                <a:avLst/>
              </a:prstGeom>
              <a:blipFill>
                <a:blip r:embed="rId2"/>
                <a:stretch>
                  <a:fillRect l="-763" r="-5344" b="-65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754E51C-57E6-B5FB-38CA-7A8F526C3D75}"/>
              </a:ext>
            </a:extLst>
          </p:cNvPr>
          <p:cNvSpPr txBox="1"/>
          <p:nvPr/>
        </p:nvSpPr>
        <p:spPr>
          <a:xfrm>
            <a:off x="2961937" y="722609"/>
            <a:ext cx="16610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Original MINLP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70A05-BC61-07B7-AC37-0B4331A72BDC}"/>
              </a:ext>
            </a:extLst>
          </p:cNvPr>
          <p:cNvSpPr txBox="1"/>
          <p:nvPr/>
        </p:nvSpPr>
        <p:spPr>
          <a:xfrm>
            <a:off x="7331628" y="724273"/>
            <a:ext cx="15888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NLP surrogate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2F4C7-4614-1290-AD66-AA0E3659580B}"/>
              </a:ext>
            </a:extLst>
          </p:cNvPr>
          <p:cNvSpPr txBox="1"/>
          <p:nvPr/>
        </p:nvSpPr>
        <p:spPr>
          <a:xfrm>
            <a:off x="10165090" y="1706058"/>
            <a:ext cx="173092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Original Constraints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CBB1F-ACA2-940D-9555-BC176B8B5613}"/>
              </a:ext>
            </a:extLst>
          </p:cNvPr>
          <p:cNvSpPr txBox="1"/>
          <p:nvPr/>
        </p:nvSpPr>
        <p:spPr>
          <a:xfrm>
            <a:off x="8988229" y="2076218"/>
            <a:ext cx="1760225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Learned Constraints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C8BFEB-DE62-2092-714B-ADB3AAE0581A}"/>
              </a:ext>
            </a:extLst>
          </p:cNvPr>
          <p:cNvSpPr txBox="1"/>
          <p:nvPr/>
        </p:nvSpPr>
        <p:spPr>
          <a:xfrm>
            <a:off x="8984445" y="2445322"/>
            <a:ext cx="160383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Relaxed Integrality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9932DF-3E20-868D-22AA-55A7B990F914}"/>
                  </a:ext>
                </a:extLst>
              </p:cNvPr>
              <p:cNvSpPr txBox="1"/>
              <p:nvPr/>
            </p:nvSpPr>
            <p:spPr>
              <a:xfrm>
                <a:off x="7796179" y="2841776"/>
                <a:ext cx="2574231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400"/>
                  <a:t> is weights of Neural Network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9932DF-3E20-868D-22AA-55A7B990F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179" y="2841776"/>
                <a:ext cx="2574231" cy="307777"/>
              </a:xfrm>
              <a:prstGeom prst="rect">
                <a:avLst/>
              </a:prstGeom>
              <a:blipFill>
                <a:blip r:embed="rId3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D5C07B-4725-E64A-54B2-24FF1156DDF7}"/>
                  </a:ext>
                </a:extLst>
              </p:cNvPr>
              <p:cNvSpPr txBox="1"/>
              <p:nvPr/>
            </p:nvSpPr>
            <p:spPr>
              <a:xfrm>
                <a:off x="2638637" y="3899034"/>
                <a:ext cx="71477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</a:rPr>
                  <a:t>Cannot solve Bilevel problem </a:t>
                </a:r>
                <a:r>
                  <a:rPr lang="en-US" dirty="0"/>
                  <a:t>reliably with NLP lower-level problem.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don’t want to generate Data points: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D5C07B-4725-E64A-54B2-24FF1156D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637" y="3899034"/>
                <a:ext cx="7147726" cy="923330"/>
              </a:xfrm>
              <a:prstGeom prst="rect">
                <a:avLst/>
              </a:prstGeom>
              <a:blipFill>
                <a:blip r:embed="rId4"/>
                <a:stretch>
                  <a:fillRect l="-532" t="-4110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09EBF72-1325-A351-267E-3497AFF11C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D0B87-7A9B-5FDB-964F-75F5097A8E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3814"/>
          <a:stretch>
            <a:fillRect/>
          </a:stretch>
        </p:blipFill>
        <p:spPr>
          <a:xfrm>
            <a:off x="6602125" y="1248277"/>
            <a:ext cx="3701732" cy="14216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BF7465-A90B-03A6-47A8-7F95E44CA8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6247"/>
          <a:stretch>
            <a:fillRect/>
          </a:stretch>
        </p:blipFill>
        <p:spPr>
          <a:xfrm>
            <a:off x="2364667" y="1248277"/>
            <a:ext cx="3777647" cy="1089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930955-B235-C5C1-8E1D-D78889787856}"/>
              </a:ext>
            </a:extLst>
          </p:cNvPr>
          <p:cNvSpPr txBox="1"/>
          <p:nvPr/>
        </p:nvSpPr>
        <p:spPr>
          <a:xfrm>
            <a:off x="2620241" y="5357984"/>
            <a:ext cx="69515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Self-supervised approach with Differentiable Optimization Layer </a:t>
            </a:r>
          </a:p>
        </p:txBody>
      </p:sp>
    </p:spTree>
    <p:extLst>
      <p:ext uri="{BB962C8B-B14F-4D97-AF65-F5344CB8AC3E}">
        <p14:creationId xmlns:p14="http://schemas.microsoft.com/office/powerpoint/2010/main" val="356800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A4C8F-A1BF-8F10-506A-5B9651F51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2E16-27DA-9652-C698-5210B9DB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as Differentiable layers in NN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B0CCE1A-58E4-AA70-8768-18048C58CCD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4CA67-0E1A-4FF0-67EE-5CA3C4A50526}"/>
              </a:ext>
            </a:extLst>
          </p:cNvPr>
          <p:cNvSpPr txBox="1"/>
          <p:nvPr/>
        </p:nvSpPr>
        <p:spPr>
          <a:xfrm>
            <a:off x="907053" y="875387"/>
            <a:ext cx="10140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Integrate convex optimization problems as </a:t>
            </a:r>
            <a:r>
              <a:rPr lang="en-US" i="1"/>
              <a:t>individual layers </a:t>
            </a:r>
            <a:r>
              <a:rPr lang="en-US"/>
              <a:t>in end-to-end trainable deep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can use this to </a:t>
            </a:r>
            <a:r>
              <a:rPr lang="en-US" i="1"/>
              <a:t>learn </a:t>
            </a:r>
            <a:r>
              <a:rPr lang="en-US"/>
              <a:t>constraints removing the bilevel formulation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BEC1FF-A71C-2CD1-A77B-AD3F6FCA4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479" y="2094171"/>
            <a:ext cx="2552700" cy="2476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7A8717-BDC4-E7A3-757F-A144F11ACF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814"/>
          <a:stretch>
            <a:fillRect/>
          </a:stretch>
        </p:blipFill>
        <p:spPr>
          <a:xfrm>
            <a:off x="6401455" y="2540618"/>
            <a:ext cx="4047951" cy="15545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CD0D90-E441-1C81-090A-D51613836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631" y="3211771"/>
            <a:ext cx="279400" cy="241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B71929-868C-1E08-EEC2-FBAC7B39B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691" y="3080397"/>
            <a:ext cx="1079500" cy="457200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D26A2997-E6FF-050C-959A-4761F0B43E2D}"/>
              </a:ext>
            </a:extLst>
          </p:cNvPr>
          <p:cNvSpPr/>
          <p:nvPr/>
        </p:nvSpPr>
        <p:spPr>
          <a:xfrm>
            <a:off x="1801101" y="2965382"/>
            <a:ext cx="207645" cy="7340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0731E71D-469F-33DA-7907-3CD06DE861FD}"/>
              </a:ext>
            </a:extLst>
          </p:cNvPr>
          <p:cNvSpPr/>
          <p:nvPr/>
        </p:nvSpPr>
        <p:spPr>
          <a:xfrm>
            <a:off x="4611179" y="2950871"/>
            <a:ext cx="207645" cy="7340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AA909-686B-23EF-62E5-21FB1E71BB49}"/>
              </a:ext>
            </a:extLst>
          </p:cNvPr>
          <p:cNvSpPr txBox="1"/>
          <p:nvPr/>
        </p:nvSpPr>
        <p:spPr>
          <a:xfrm>
            <a:off x="9035337" y="3466997"/>
            <a:ext cx="1760225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Learned Constraints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66359F-C957-CDB1-90DC-D60AEA7CFF4D}"/>
              </a:ext>
            </a:extLst>
          </p:cNvPr>
          <p:cNvSpPr txBox="1"/>
          <p:nvPr/>
        </p:nvSpPr>
        <p:spPr>
          <a:xfrm>
            <a:off x="907053" y="4927847"/>
            <a:ext cx="77506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Must be able to perform a forward and backwards pass for neural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Forward: solving the optimization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Backwards: compute the derivative of solution </a:t>
            </a:r>
            <a:r>
              <a:rPr lang="en-US" err="1"/>
              <a:t>w.r.t.</a:t>
            </a:r>
            <a:r>
              <a:rPr lang="en-US"/>
              <a:t> input parameters</a:t>
            </a:r>
          </a:p>
        </p:txBody>
      </p:sp>
    </p:spTree>
    <p:extLst>
      <p:ext uri="{BB962C8B-B14F-4D97-AF65-F5344CB8AC3E}">
        <p14:creationId xmlns:p14="http://schemas.microsoft.com/office/powerpoint/2010/main" val="4059885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328A4-EDCC-90F5-A5D7-12057A2C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96C4-1044-B7B4-A67D-A9B35977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Optimization as Differentiable layers in NN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AB4D7E-C368-E4E6-87C0-16FE7DDDAAD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FC1F77-1AAB-5EF1-F80A-E104088511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941"/>
          <a:stretch>
            <a:fillRect/>
          </a:stretch>
        </p:blipFill>
        <p:spPr>
          <a:xfrm>
            <a:off x="3609306" y="1817167"/>
            <a:ext cx="4973388" cy="13191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793576-CD5D-9D63-C488-7EB125315932}"/>
              </a:ext>
            </a:extLst>
          </p:cNvPr>
          <p:cNvSpPr txBox="1"/>
          <p:nvPr/>
        </p:nvSpPr>
        <p:spPr>
          <a:xfrm>
            <a:off x="3458493" y="1413056"/>
            <a:ext cx="463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Consider the following parametric convex QP,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1271A-0B5A-2261-8C87-9E5B13732AB4}"/>
              </a:ext>
            </a:extLst>
          </p:cNvPr>
          <p:cNvSpPr txBox="1"/>
          <p:nvPr/>
        </p:nvSpPr>
        <p:spPr>
          <a:xfrm>
            <a:off x="0" y="6352270"/>
            <a:ext cx="9068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[1] B. Amos and J. Z. Kolter, “</a:t>
            </a:r>
            <a:r>
              <a:rPr lang="en-US" sz="900" err="1"/>
              <a:t>OptNet</a:t>
            </a:r>
            <a:r>
              <a:rPr lang="en-US" sz="900"/>
              <a:t>: Differentiable Optimization as a Layer in Neural Networks,” Dec. 02, 2021, </a:t>
            </a:r>
            <a:r>
              <a:rPr lang="en-US" sz="900" i="1" err="1"/>
              <a:t>arXiv</a:t>
            </a:r>
            <a:r>
              <a:rPr lang="en-US" sz="900"/>
              <a:t>: arXiv:1703.00443. </a:t>
            </a:r>
            <a:r>
              <a:rPr lang="en-US" sz="900" err="1"/>
              <a:t>doi</a:t>
            </a:r>
            <a:r>
              <a:rPr lang="en-US" sz="900"/>
              <a:t>: </a:t>
            </a:r>
            <a:r>
              <a:rPr lang="en-US" sz="900">
                <a:hlinkClick r:id="rId3"/>
              </a:rPr>
              <a:t>10.48550/arXiv.1703.00443</a:t>
            </a:r>
            <a:r>
              <a:rPr lang="en-US" sz="900"/>
              <a:t>.</a:t>
            </a:r>
          </a:p>
          <a:p>
            <a:r>
              <a:rPr lang="en-US" sz="900"/>
              <a:t>[2] Agrawal, A., Amos, B., Barratt, S., Boyd, S., Diamond, S. and Kolter, J.Z., 2019. Differentiable convex optimization layers. Advances in neural information processing systems, 32.</a:t>
            </a:r>
          </a:p>
          <a:p>
            <a:r>
              <a:rPr lang="en-US" sz="900"/>
              <a:t>[3] M. </a:t>
            </a:r>
            <a:r>
              <a:rPr lang="en-US" sz="900" err="1"/>
              <a:t>Besançon</a:t>
            </a:r>
            <a:r>
              <a:rPr lang="en-US" sz="900"/>
              <a:t>, J. D. Garcia, B. Legat, and A. Sharma, “Flexible Differentiable Optimization via Model Transformations,” Jul. 31, 2023, </a:t>
            </a:r>
            <a:r>
              <a:rPr lang="en-US" sz="900" i="1" err="1"/>
              <a:t>arXiv</a:t>
            </a:r>
            <a:r>
              <a:rPr lang="en-US" sz="900"/>
              <a:t>: arXiv:2206.06135.</a:t>
            </a:r>
          </a:p>
          <a:p>
            <a:endParaRPr lang="en-US" sz="9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629E45-0849-5FB0-80BE-B3BF368EB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2" y="3810374"/>
            <a:ext cx="5801242" cy="498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2EAE36-C8C5-19E5-3540-54331FC90645}"/>
              </a:ext>
            </a:extLst>
          </p:cNvPr>
          <p:cNvSpPr txBox="1"/>
          <p:nvPr/>
        </p:nvSpPr>
        <p:spPr>
          <a:xfrm>
            <a:off x="99152" y="3405959"/>
            <a:ext cx="2736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Lagrangian</a:t>
            </a:r>
            <a:r>
              <a:rPr lang="en-US" dirty="0"/>
              <a:t> is given by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DD446A-1175-0B7C-D781-E35E4D22929E}"/>
              </a:ext>
            </a:extLst>
          </p:cNvPr>
          <p:cNvSpPr txBox="1"/>
          <p:nvPr/>
        </p:nvSpPr>
        <p:spPr>
          <a:xfrm>
            <a:off x="7106434" y="3554939"/>
            <a:ext cx="2427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KKT conditions are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EF0E7-F7E3-E248-69E4-47EBB5DBB788}"/>
              </a:ext>
            </a:extLst>
          </p:cNvPr>
          <p:cNvSpPr txBox="1"/>
          <p:nvPr/>
        </p:nvSpPr>
        <p:spPr>
          <a:xfrm>
            <a:off x="7106434" y="5179252"/>
            <a:ext cx="508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Where		is a diagonal matrix from a vector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C967A6-654D-FA4B-296A-0F5D53C242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985" y="5217632"/>
            <a:ext cx="486072" cy="2872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9CBE0D3-0C29-44AF-9D6D-355C5F977079}"/>
              </a:ext>
            </a:extLst>
          </p:cNvPr>
          <p:cNvSpPr txBox="1"/>
          <p:nvPr/>
        </p:nvSpPr>
        <p:spPr>
          <a:xfrm>
            <a:off x="1401862" y="724048"/>
            <a:ext cx="938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To obtain the backwards pass, we differentiate KKT conditions at a solution to the problem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837C3CB-89CF-2EAE-93FE-A457F3BC26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5112"/>
          <a:stretch>
            <a:fillRect/>
          </a:stretch>
        </p:blipFill>
        <p:spPr>
          <a:xfrm>
            <a:off x="7106434" y="3965928"/>
            <a:ext cx="3355212" cy="110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58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F982A-EA14-60F7-F8FB-8E96BE95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7F3F-CA6A-1B0F-B5EA-AC479BA1B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Optimization as Differentiable layers in NN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1862E4-8672-09BA-B7F4-D692CBD6708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90006-2F9A-337F-2673-18696C38D8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57"/>
          <a:stretch>
            <a:fillRect/>
          </a:stretch>
        </p:blipFill>
        <p:spPr>
          <a:xfrm>
            <a:off x="99152" y="1246699"/>
            <a:ext cx="5011467" cy="8254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4B7519-3FA9-8A9D-F7FE-B3BFD7A9B3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32"/>
          <a:stretch>
            <a:fillRect/>
          </a:stretch>
        </p:blipFill>
        <p:spPr>
          <a:xfrm>
            <a:off x="5645793" y="1286131"/>
            <a:ext cx="6447055" cy="9547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6A1DA5-5367-1602-E413-125E77F7BC1A}"/>
              </a:ext>
            </a:extLst>
          </p:cNvPr>
          <p:cNvSpPr txBox="1"/>
          <p:nvPr/>
        </p:nvSpPr>
        <p:spPr>
          <a:xfrm>
            <a:off x="99152" y="741511"/>
            <a:ext cx="7778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Implicit differentiation through the KKT conditions and given in matrix form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350AEDD2-8208-1FE4-0314-8FAD07E39065}"/>
              </a:ext>
            </a:extLst>
          </p:cNvPr>
          <p:cNvSpPr/>
          <p:nvPr/>
        </p:nvSpPr>
        <p:spPr>
          <a:xfrm>
            <a:off x="5236277" y="1556669"/>
            <a:ext cx="262649" cy="22988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9B7DF8-9161-F126-AD47-FA8B5AFB8898}"/>
              </a:ext>
            </a:extLst>
          </p:cNvPr>
          <p:cNvSpPr txBox="1"/>
          <p:nvPr/>
        </p:nvSpPr>
        <p:spPr>
          <a:xfrm>
            <a:off x="99152" y="2337826"/>
            <a:ext cx="10602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need to find the change in the loss function </a:t>
            </a:r>
            <a:r>
              <a:rPr lang="en-US" err="1"/>
              <a:t>w.r.t.</a:t>
            </a:r>
            <a:r>
              <a:rPr lang="en-US"/>
              <a:t> parameters given previous backwards pass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Solving for the adjoint state variables without fully computing the Jacobian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65571-5A60-6214-1540-5DF9860D81B4}"/>
              </a:ext>
            </a:extLst>
          </p:cNvPr>
          <p:cNvSpPr txBox="1"/>
          <p:nvPr/>
        </p:nvSpPr>
        <p:spPr>
          <a:xfrm>
            <a:off x="0" y="6352270"/>
            <a:ext cx="9068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[1] B. Amos and J. Z. Kolter, “</a:t>
            </a:r>
            <a:r>
              <a:rPr lang="en-US" sz="900" err="1"/>
              <a:t>OptNet</a:t>
            </a:r>
            <a:r>
              <a:rPr lang="en-US" sz="900"/>
              <a:t>: Differentiable Optimization as a Layer in Neural Networks,” Dec. 02, 2021, </a:t>
            </a:r>
            <a:r>
              <a:rPr lang="en-US" sz="900" i="1" err="1"/>
              <a:t>arXiv</a:t>
            </a:r>
            <a:r>
              <a:rPr lang="en-US" sz="900"/>
              <a:t>: arXiv:1703.00443. </a:t>
            </a:r>
            <a:r>
              <a:rPr lang="en-US" sz="900" err="1"/>
              <a:t>doi</a:t>
            </a:r>
            <a:r>
              <a:rPr lang="en-US" sz="900"/>
              <a:t>: </a:t>
            </a:r>
            <a:r>
              <a:rPr lang="en-US" sz="900">
                <a:hlinkClick r:id="rId4"/>
              </a:rPr>
              <a:t>10.48550/arXiv.1703.00443</a:t>
            </a:r>
            <a:r>
              <a:rPr lang="en-US" sz="900"/>
              <a:t>.</a:t>
            </a:r>
          </a:p>
          <a:p>
            <a:r>
              <a:rPr lang="en-US" sz="900"/>
              <a:t>[2] Agrawal, A., Amos, B., Barratt, S., Boyd, S., Diamond, S. and Kolter, J.Z., 2019. Differentiable convex optimization layers. Advances in neural information processing systems, 32.</a:t>
            </a:r>
          </a:p>
          <a:p>
            <a:r>
              <a:rPr lang="en-US" sz="900"/>
              <a:t>[3] M. </a:t>
            </a:r>
            <a:r>
              <a:rPr lang="en-US" sz="900" err="1"/>
              <a:t>Besançon</a:t>
            </a:r>
            <a:r>
              <a:rPr lang="en-US" sz="900"/>
              <a:t>, J. D. Garcia, B. Legat, and A. Sharma, “Flexible Differentiable Optimization via Model Transformations,” Jul. 31, 2023, </a:t>
            </a:r>
            <a:r>
              <a:rPr lang="en-US" sz="900" i="1" err="1"/>
              <a:t>arXiv</a:t>
            </a:r>
            <a:r>
              <a:rPr lang="en-US" sz="900"/>
              <a:t>: arXiv:2206.06135.</a:t>
            </a:r>
          </a:p>
          <a:p>
            <a:endParaRPr 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54124-8B95-107F-2503-2217B3FC7644}"/>
              </a:ext>
            </a:extLst>
          </p:cNvPr>
          <p:cNvSpPr txBox="1"/>
          <p:nvPr/>
        </p:nvSpPr>
        <p:spPr>
          <a:xfrm>
            <a:off x="99152" y="4244957"/>
            <a:ext cx="5645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gradients </a:t>
            </a:r>
            <a:r>
              <a:rPr lang="en-US" dirty="0" err="1"/>
              <a:t>w.r.t.</a:t>
            </a:r>
            <a:r>
              <a:rPr lang="en-US" dirty="0"/>
              <a:t> the QP parameters are as follows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3F0204-4DFF-5D13-34EA-960D8A64E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12" y="2343719"/>
            <a:ext cx="426775" cy="3516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8D29C6-B6AD-C8DF-1C6E-D1D1159B902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423"/>
          <a:stretch>
            <a:fillRect/>
          </a:stretch>
        </p:blipFill>
        <p:spPr>
          <a:xfrm>
            <a:off x="2807847" y="4687927"/>
            <a:ext cx="5874161" cy="15907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5FADB7-4F76-F033-4390-30BFDE5AA55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4423"/>
          <a:stretch>
            <a:fillRect/>
          </a:stretch>
        </p:blipFill>
        <p:spPr>
          <a:xfrm>
            <a:off x="4732851" y="3043784"/>
            <a:ext cx="5874161" cy="10958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F204C8-D930-B7F2-FA3E-B25061DDE9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4988" y="3299167"/>
            <a:ext cx="1582545" cy="5535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06D3B0-442B-F4F8-25DB-CB31EBB1F4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8989" y="2629863"/>
            <a:ext cx="429929" cy="35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8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7426E-B399-D635-DB10-504C59E1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CEA6-12E7-7101-6BC6-037FF65D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approach for Convex MINLP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C34907-88CC-1D2E-8155-32933943BB5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BF9526-AE6A-1EC1-5E0B-A5EEBA02DD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2" t="7797" r="4131" b="51102"/>
          <a:stretch>
            <a:fillRect/>
          </a:stretch>
        </p:blipFill>
        <p:spPr>
          <a:xfrm>
            <a:off x="345262" y="1608124"/>
            <a:ext cx="11501476" cy="364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64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F2E4A-FB34-7667-5F0D-6B51A4F9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26649-4424-6B66-ADB4-26FEE856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approach for Convex MINLP </a:t>
            </a:r>
          </a:p>
        </p:txBody>
      </p:sp>
      <p:pic>
        <p:nvPicPr>
          <p:cNvPr id="19" name="learn_cuts">
            <a:hlinkClick r:id="" action="ppaction://media"/>
            <a:extLst>
              <a:ext uri="{FF2B5EF4-FFF2-40B4-BE49-F238E27FC236}">
                <a16:creationId xmlns:a16="http://schemas.microsoft.com/office/drawing/2014/main" id="{CD5DAD06-EC38-19AB-1C7A-5119081AC3D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54258" y="676593"/>
            <a:ext cx="6946790" cy="4842687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864E8DC-7867-D68D-EF30-7FAC6C287E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40DEC-42E4-41C9-8E4E-F0C2776D5499}"/>
              </a:ext>
            </a:extLst>
          </p:cNvPr>
          <p:cNvSpPr txBox="1"/>
          <p:nvPr/>
        </p:nvSpPr>
        <p:spPr>
          <a:xfrm>
            <a:off x="1672938" y="6010760"/>
            <a:ext cx="8645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Learnable cutting planes to constrain MINLP feasible space for  NLP surrogate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Feasibility restoration (projection) to get integer feasible point</a:t>
            </a:r>
          </a:p>
        </p:txBody>
      </p:sp>
    </p:spTree>
    <p:extLst>
      <p:ext uri="{BB962C8B-B14F-4D97-AF65-F5344CB8AC3E}">
        <p14:creationId xmlns:p14="http://schemas.microsoft.com/office/powerpoint/2010/main" val="22392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8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49116-09F2-2FD9-6D8F-E0B1DB3A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3149-AC13-435C-7633-CC242F6F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Feasibility Restoration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85CE72-1C1F-795A-0BCD-7E0C4E24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544" y="2814526"/>
            <a:ext cx="7772400" cy="30943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766BE7-8DC8-1411-048A-695DE7646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928" y="1088207"/>
            <a:ext cx="5297424" cy="15100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6C38B-E6FC-93B5-A021-B220272C16D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84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D5AC3-B67B-DA36-9150-1C54CA372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314A-06A2-8FA2-5227-C2445F61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B4547-BBD6-D13F-8D6C-15E37BE4AB6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63910-690B-00AE-C3DB-D4427C7043C9}"/>
              </a:ext>
            </a:extLst>
          </p:cNvPr>
          <p:cNvSpPr txBox="1"/>
          <p:nvPr/>
        </p:nvSpPr>
        <p:spPr>
          <a:xfrm>
            <a:off x="6096000" y="59865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A4A100-B9F0-F7C2-91CC-29926FDFA6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59" t="14158" r="19007" b="42680"/>
          <a:stretch>
            <a:fillRect/>
          </a:stretch>
        </p:blipFill>
        <p:spPr>
          <a:xfrm>
            <a:off x="2278607" y="598659"/>
            <a:ext cx="6008112" cy="6205747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7B59EE5A-C65D-CBB8-7034-79B6D2641444}"/>
              </a:ext>
            </a:extLst>
          </p:cNvPr>
          <p:cNvSpPr/>
          <p:nvPr/>
        </p:nvSpPr>
        <p:spPr>
          <a:xfrm>
            <a:off x="7796654" y="1921060"/>
            <a:ext cx="554524" cy="2749863"/>
          </a:xfrm>
          <a:prstGeom prst="rightBrace">
            <a:avLst>
              <a:gd name="adj1" fmla="val 20785"/>
              <a:gd name="adj2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DBED4D0-DE69-C2A7-DE95-20B1665B644B}"/>
              </a:ext>
            </a:extLst>
          </p:cNvPr>
          <p:cNvSpPr/>
          <p:nvPr/>
        </p:nvSpPr>
        <p:spPr>
          <a:xfrm>
            <a:off x="7796653" y="4982455"/>
            <a:ext cx="554524" cy="1510419"/>
          </a:xfrm>
          <a:prstGeom prst="rightBrace">
            <a:avLst>
              <a:gd name="adj1" fmla="val 20785"/>
              <a:gd name="adj2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B9642-BF54-BE71-526D-DE8688684A70}"/>
              </a:ext>
            </a:extLst>
          </p:cNvPr>
          <p:cNvSpPr txBox="1"/>
          <p:nvPr/>
        </p:nvSpPr>
        <p:spPr>
          <a:xfrm>
            <a:off x="8437829" y="3111325"/>
            <a:ext cx="1326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NN Training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32E54-24EC-BF3A-0AC6-F9E572D22330}"/>
              </a:ext>
            </a:extLst>
          </p:cNvPr>
          <p:cNvSpPr txBox="1"/>
          <p:nvPr/>
        </p:nvSpPr>
        <p:spPr>
          <a:xfrm>
            <a:off x="8437829" y="5414498"/>
            <a:ext cx="1713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 &amp;</a:t>
            </a:r>
          </a:p>
          <a:p>
            <a:r>
              <a:rPr lang="en-US" dirty="0"/>
              <a:t>Postprocessing</a:t>
            </a:r>
          </a:p>
        </p:txBody>
      </p:sp>
    </p:spTree>
    <p:extLst>
      <p:ext uri="{BB962C8B-B14F-4D97-AF65-F5344CB8AC3E}">
        <p14:creationId xmlns:p14="http://schemas.microsoft.com/office/powerpoint/2010/main" val="3325161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3DA8D-F1E1-51F8-5F49-04A38ED3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990C-F089-D5EA-4DE6-A6786A2B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Study: Hybrid Vehicle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42930-7E96-05CC-A7DB-B60587ACC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1" y="1515960"/>
            <a:ext cx="5160767" cy="4039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5C928D-1A75-43B0-8071-0D0BAEFDF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06" y="665018"/>
            <a:ext cx="4464132" cy="1646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3427D4-524B-9D6E-42E5-0EF1D8FE0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06" y="2517567"/>
            <a:ext cx="5330142" cy="2600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E8F127-159B-A8FC-5051-0C475CB67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06" y="5324429"/>
            <a:ext cx="5124675" cy="116844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E599F0-3B1D-6050-EDD2-C88D3E920A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15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9D99E-9FF7-BA1E-4D89-5BA2C83BF019}"/>
              </a:ext>
            </a:extLst>
          </p:cNvPr>
          <p:cNvSpPr txBox="1"/>
          <p:nvPr/>
        </p:nvSpPr>
        <p:spPr>
          <a:xfrm>
            <a:off x="1627074" y="900407"/>
            <a:ext cx="92493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Fuel Cost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94C5A8-51B9-D0D7-25A6-A7C459C630A8}"/>
              </a:ext>
            </a:extLst>
          </p:cNvPr>
          <p:cNvSpPr txBox="1"/>
          <p:nvPr/>
        </p:nvSpPr>
        <p:spPr>
          <a:xfrm>
            <a:off x="2888209" y="900407"/>
            <a:ext cx="102521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Mode 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978CE-38E5-B4F0-B2C4-0C1BAA8E405A}"/>
              </a:ext>
            </a:extLst>
          </p:cNvPr>
          <p:cNvSpPr txBox="1"/>
          <p:nvPr/>
        </p:nvSpPr>
        <p:spPr>
          <a:xfrm>
            <a:off x="4076478" y="900406"/>
            <a:ext cx="1443408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Terminal Charge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E30CD4-B3E2-6B37-B8C6-B72A7566B16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089541" y="1208184"/>
            <a:ext cx="214994" cy="43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19D392-C980-BA4D-D565-6A8578D6CC91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3151545" y="1208184"/>
            <a:ext cx="249273" cy="43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2DFA30-0206-C44E-ED5A-CF64F7969B86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396278" y="1208183"/>
            <a:ext cx="401904" cy="433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4D9E621-6A42-738C-45D7-02A4BC55760B}"/>
              </a:ext>
            </a:extLst>
          </p:cNvPr>
          <p:cNvSpPr txBox="1"/>
          <p:nvPr/>
        </p:nvSpPr>
        <p:spPr>
          <a:xfrm>
            <a:off x="2632884" y="2341760"/>
            <a:ext cx="1180258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Initial energy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D04999-ADEB-1F41-221F-D825162704F2}"/>
              </a:ext>
            </a:extLst>
          </p:cNvPr>
          <p:cNvSpPr txBox="1"/>
          <p:nvPr/>
        </p:nvSpPr>
        <p:spPr>
          <a:xfrm>
            <a:off x="5116060" y="2686946"/>
            <a:ext cx="1545997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System dynamics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FFD301-DE86-2C9D-5666-2AB34B26496C}"/>
              </a:ext>
            </a:extLst>
          </p:cNvPr>
          <p:cNvSpPr txBox="1"/>
          <p:nvPr/>
        </p:nvSpPr>
        <p:spPr>
          <a:xfrm>
            <a:off x="4288335" y="3228022"/>
            <a:ext cx="132869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Mode bounds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3BB293-3BA8-3750-185E-5C20B2D4D59C}"/>
              </a:ext>
            </a:extLst>
          </p:cNvPr>
          <p:cNvSpPr txBox="1"/>
          <p:nvPr/>
        </p:nvSpPr>
        <p:spPr>
          <a:xfrm>
            <a:off x="4076478" y="3689686"/>
            <a:ext cx="1352817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Power demand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AFD7F1-57D8-9897-6F03-A2858026B4DE}"/>
              </a:ext>
            </a:extLst>
          </p:cNvPr>
          <p:cNvSpPr txBox="1"/>
          <p:nvPr/>
        </p:nvSpPr>
        <p:spPr>
          <a:xfrm>
            <a:off x="3471345" y="4259211"/>
            <a:ext cx="924933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Capacity &amp;</a:t>
            </a:r>
          </a:p>
          <a:p>
            <a:r>
              <a:rPr lang="en-US" sz="1400"/>
              <a:t>Limits</a:t>
            </a:r>
          </a:p>
        </p:txBody>
      </p:sp>
    </p:spTree>
    <p:extLst>
      <p:ext uri="{BB962C8B-B14F-4D97-AF65-F5344CB8AC3E}">
        <p14:creationId xmlns:p14="http://schemas.microsoft.com/office/powerpoint/2010/main" val="3056969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D46412F9-9CD1-3B41-217F-71E03A83F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68" y="1224870"/>
            <a:ext cx="4851070" cy="3712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71241E-70C5-EB37-84BC-E11ECC51D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Study: Hybrid Vehicle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14AA7-3808-1D0F-105B-77EFBC747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46" y="1324256"/>
            <a:ext cx="4237911" cy="331729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990865-B796-BFC8-27FD-D81AC32E234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16</a:t>
            </a:fld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FD5B67-CC70-63ED-2DB3-A6E436BBD4E8}"/>
              </a:ext>
            </a:extLst>
          </p:cNvPr>
          <p:cNvSpPr txBox="1"/>
          <p:nvPr/>
        </p:nvSpPr>
        <p:spPr>
          <a:xfrm>
            <a:off x="9125470" y="665018"/>
            <a:ext cx="75661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Penalty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F22D59-2205-ECAE-6995-24D418B0C4FA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9503779" y="972795"/>
            <a:ext cx="150860" cy="351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7672E84-5273-C419-1C60-14DAF88B9D45}"/>
              </a:ext>
            </a:extLst>
          </p:cNvPr>
          <p:cNvSpPr txBox="1"/>
          <p:nvPr/>
        </p:nvSpPr>
        <p:spPr>
          <a:xfrm>
            <a:off x="9654639" y="2669875"/>
            <a:ext cx="1595510" cy="7386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Slack to prevent infeasibility during training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AD5045E-839B-4ADF-B77E-2656CC3A9536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9970875" y="3408539"/>
            <a:ext cx="481519" cy="15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75659EC-D4AC-3A0C-9FFA-CD11B0410E4A}"/>
              </a:ext>
            </a:extLst>
          </p:cNvPr>
          <p:cNvSpPr txBox="1"/>
          <p:nvPr/>
        </p:nvSpPr>
        <p:spPr>
          <a:xfrm>
            <a:off x="9466484" y="3719781"/>
            <a:ext cx="1963516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Learned constraint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37CB667-8328-E1E3-3699-2BC518CA1AA1}"/>
              </a:ext>
            </a:extLst>
          </p:cNvPr>
          <p:cNvCxnSpPr>
            <a:cxnSpLocks/>
          </p:cNvCxnSpPr>
          <p:nvPr/>
        </p:nvCxnSpPr>
        <p:spPr>
          <a:xfrm flipH="1" flipV="1">
            <a:off x="8189621" y="3719781"/>
            <a:ext cx="1276863" cy="153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D829077-BE6F-41DF-F862-E5F28D1FD22E}"/>
              </a:ext>
            </a:extLst>
          </p:cNvPr>
          <p:cNvSpPr txBox="1"/>
          <p:nvPr/>
        </p:nvSpPr>
        <p:spPr>
          <a:xfrm>
            <a:off x="7615693" y="4361402"/>
            <a:ext cx="1963516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Relaxed integrality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A85F5C-3E5C-629F-743A-E3458F37F3E5}"/>
              </a:ext>
            </a:extLst>
          </p:cNvPr>
          <p:cNvSpPr txBox="1"/>
          <p:nvPr/>
        </p:nvSpPr>
        <p:spPr>
          <a:xfrm>
            <a:off x="1995638" y="818906"/>
            <a:ext cx="16610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Original MINLP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9603B6-A0BD-90E1-05E6-C384232FDC43}"/>
              </a:ext>
            </a:extLst>
          </p:cNvPr>
          <p:cNvSpPr txBox="1"/>
          <p:nvPr/>
        </p:nvSpPr>
        <p:spPr>
          <a:xfrm>
            <a:off x="7056393" y="816805"/>
            <a:ext cx="15888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NLP surrogate</a:t>
            </a:r>
          </a:p>
        </p:txBody>
      </p:sp>
    </p:spTree>
    <p:extLst>
      <p:ext uri="{BB962C8B-B14F-4D97-AF65-F5344CB8AC3E}">
        <p14:creationId xmlns:p14="http://schemas.microsoft.com/office/powerpoint/2010/main" val="1436959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4036B-8B7C-E2B9-C884-07B91067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B24C-AA29-7E5A-D402-10A1CCB13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Study: Hybrid Vehicle Control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757997-4FBC-A4AB-98B7-87C3C142631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F4836-4FF5-B947-8A92-9085A547F38A}"/>
              </a:ext>
            </a:extLst>
          </p:cNvPr>
          <p:cNvSpPr txBox="1"/>
          <p:nvPr/>
        </p:nvSpPr>
        <p:spPr>
          <a:xfrm>
            <a:off x="1627276" y="926015"/>
            <a:ext cx="119295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/>
              <a:t>NN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BF384-2859-ACAA-39E9-47BFEA201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231" y="799532"/>
            <a:ext cx="3699474" cy="526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E53840-6D0E-9C5D-F3FA-12A7AA4E6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891" y="1913367"/>
            <a:ext cx="5354787" cy="6775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D5A681-6E59-AFE3-F5F5-C7B9846EC037}"/>
              </a:ext>
            </a:extLst>
          </p:cNvPr>
          <p:cNvSpPr txBox="1"/>
          <p:nvPr/>
        </p:nvSpPr>
        <p:spPr>
          <a:xfrm>
            <a:off x="4734724" y="1527866"/>
            <a:ext cx="118451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Problem Obj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69178B-5FD3-099C-593B-7ED987984C40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326981" y="1835643"/>
            <a:ext cx="0" cy="30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D54BCBC-F4F4-C6BD-54F0-1FD483D65007}"/>
              </a:ext>
            </a:extLst>
          </p:cNvPr>
          <p:cNvSpPr txBox="1"/>
          <p:nvPr/>
        </p:nvSpPr>
        <p:spPr>
          <a:xfrm>
            <a:off x="6112704" y="1527866"/>
            <a:ext cx="1569145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Integrality penalty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DE7DE8-1FEB-AB07-FCA6-22D7A59FC660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6824585" y="1835643"/>
            <a:ext cx="72692" cy="30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B789169-4F68-95A2-53CF-F07464DF0745}"/>
              </a:ext>
            </a:extLst>
          </p:cNvPr>
          <p:cNvSpPr txBox="1"/>
          <p:nvPr/>
        </p:nvSpPr>
        <p:spPr>
          <a:xfrm>
            <a:off x="7802624" y="1295347"/>
            <a:ext cx="1569145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feasibility penalty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4D3E9E-5100-D798-200B-1001D6D767A4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7875315" y="1603124"/>
            <a:ext cx="711882" cy="492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0955E8D-BBBE-B919-F0EB-1042ABC3D134}"/>
              </a:ext>
            </a:extLst>
          </p:cNvPr>
          <p:cNvGrpSpPr/>
          <p:nvPr/>
        </p:nvGrpSpPr>
        <p:grpSpPr>
          <a:xfrm>
            <a:off x="1627276" y="3454675"/>
            <a:ext cx="7224894" cy="2107978"/>
            <a:chOff x="1627276" y="3454675"/>
            <a:chExt cx="7224894" cy="210797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DAF1E52-3F6F-D618-978A-93C68B980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27276" y="3454675"/>
              <a:ext cx="7224894" cy="2107978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A8B173-3F47-FEF6-60D3-50B8C4A92EB9}"/>
                </a:ext>
              </a:extLst>
            </p:cNvPr>
            <p:cNvSpPr/>
            <p:nvPr/>
          </p:nvSpPr>
          <p:spPr>
            <a:xfrm>
              <a:off x="7198468" y="3842426"/>
              <a:ext cx="321013" cy="3307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38178A3-5E2A-EB52-B4FE-B766246E09EE}"/>
                </a:ext>
              </a:extLst>
            </p:cNvPr>
            <p:cNvSpPr/>
            <p:nvPr/>
          </p:nvSpPr>
          <p:spPr>
            <a:xfrm>
              <a:off x="5627408" y="4584886"/>
              <a:ext cx="485296" cy="308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E111605-0763-8348-AC61-37F5C19366A9}"/>
                </a:ext>
              </a:extLst>
            </p:cNvPr>
            <p:cNvSpPr/>
            <p:nvPr/>
          </p:nvSpPr>
          <p:spPr>
            <a:xfrm>
              <a:off x="3270072" y="5254526"/>
              <a:ext cx="485296" cy="308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423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3E425-938D-39EC-904B-AB42FE52E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D8B3-1298-8CF1-15E4-3DCD3FA3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Specifications: Hybrid Vehicle Case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31096-366C-5EE6-4675-791DC4E16A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C6D68F-B253-26EA-4225-F71F45BB1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73" y="1011677"/>
            <a:ext cx="5361375" cy="3022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4937C1-A182-62A0-C340-23F78EB8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2962"/>
            <a:ext cx="4919155" cy="23394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678B22-4794-27F8-F776-857C4C00D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649" y="4486215"/>
            <a:ext cx="6256506" cy="19269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D8E442-45FE-034D-1500-26768DFB7D3E}"/>
              </a:ext>
            </a:extLst>
          </p:cNvPr>
          <p:cNvSpPr txBox="1"/>
          <p:nvPr/>
        </p:nvSpPr>
        <p:spPr>
          <a:xfrm>
            <a:off x="700392" y="4486215"/>
            <a:ext cx="2188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Continuous Vars: 91</a:t>
            </a:r>
          </a:p>
          <a:p>
            <a:r>
              <a:rPr lang="en-US"/>
              <a:t>Integer Vars: 30</a:t>
            </a:r>
          </a:p>
        </p:txBody>
      </p:sp>
    </p:spTree>
    <p:extLst>
      <p:ext uri="{BB962C8B-B14F-4D97-AF65-F5344CB8AC3E}">
        <p14:creationId xmlns:p14="http://schemas.microsoft.com/office/powerpoint/2010/main" val="1866279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E5DEA-8615-0EB6-7911-30CF1D9F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879A-DF0B-B2FF-DABA-35951D01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Results: Hybrid Vehicle Case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1F42A-7295-A887-205C-4DAD9BA4993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19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57D803-DED6-1FB1-B71A-90526B3B97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77" r="25055" b="-358"/>
          <a:stretch>
            <a:fillRect/>
          </a:stretch>
        </p:blipFill>
        <p:spPr>
          <a:xfrm>
            <a:off x="646794" y="764191"/>
            <a:ext cx="10569043" cy="28803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A3FA85-AA22-9685-C90C-948B48EE8B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759" t="8507"/>
          <a:stretch>
            <a:fillRect/>
          </a:stretch>
        </p:blipFill>
        <p:spPr>
          <a:xfrm>
            <a:off x="4112801" y="3644537"/>
            <a:ext cx="3966398" cy="32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40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A9511-E54F-D2FE-DC57-9706847D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CFF5-6DAE-B1C4-E014-EA600D4C7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Results: Hybrid Vehicle Case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79FE7-8E28-2161-6D13-6F5C31323FE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12BC2-D26A-B42C-A409-63344CC63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65" y="822154"/>
            <a:ext cx="11269422" cy="521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15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F3806-F98F-BD05-D518-FEDA15D9E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AE10-3A8C-B341-9FA8-DBAA6BD5F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Case Study: Unit Commitment – AC OPF (UC-ACOPF)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1F2EF-87A4-0070-4129-2CAC716C440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94FC9B-81BA-07CF-FE16-00FDA73EBEE4}"/>
              </a:ext>
            </a:extLst>
          </p:cNvPr>
          <p:cNvSpPr txBox="1"/>
          <p:nvPr/>
        </p:nvSpPr>
        <p:spPr>
          <a:xfrm>
            <a:off x="5080495" y="1646400"/>
            <a:ext cx="2650341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Active &amp; reactive power balance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C4E64B-139E-D28E-8C38-C88E19951F14}"/>
              </a:ext>
            </a:extLst>
          </p:cNvPr>
          <p:cNvSpPr txBox="1"/>
          <p:nvPr/>
        </p:nvSpPr>
        <p:spPr>
          <a:xfrm>
            <a:off x="3223473" y="4837565"/>
            <a:ext cx="2461892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Unit commitment constraints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2D57E3-785F-CBC2-7038-5085D8F21B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43"/>
          <a:stretch>
            <a:fillRect/>
          </a:stretch>
        </p:blipFill>
        <p:spPr>
          <a:xfrm>
            <a:off x="626178" y="1011091"/>
            <a:ext cx="4269648" cy="5046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1999CC-BDFF-F102-5BBA-B12FADAEA392}"/>
              </a:ext>
            </a:extLst>
          </p:cNvPr>
          <p:cNvSpPr txBox="1"/>
          <p:nvPr/>
        </p:nvSpPr>
        <p:spPr>
          <a:xfrm>
            <a:off x="2242045" y="937278"/>
            <a:ext cx="2505045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Minimize total generation cost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676B57-8336-649F-16B4-E8F7A2D8A9CC}"/>
              </a:ext>
            </a:extLst>
          </p:cNvPr>
          <p:cNvSpPr txBox="1"/>
          <p:nvPr/>
        </p:nvSpPr>
        <p:spPr>
          <a:xfrm>
            <a:off x="3782169" y="4337877"/>
            <a:ext cx="1727076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Line &amp; voltage limits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E3184B-5353-3EE1-98D4-2B0350A26007}"/>
              </a:ext>
            </a:extLst>
          </p:cNvPr>
          <p:cNvSpPr txBox="1"/>
          <p:nvPr/>
        </p:nvSpPr>
        <p:spPr>
          <a:xfrm>
            <a:off x="5043244" y="2934205"/>
            <a:ext cx="1841466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Power flow equations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0F98BE-A441-ACCE-918A-1499B0681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99" y="6234703"/>
            <a:ext cx="3590046" cy="2581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2B8426F-02CF-E851-FB6D-5E5F57DDAABE}"/>
              </a:ext>
            </a:extLst>
          </p:cNvPr>
          <p:cNvSpPr txBox="1"/>
          <p:nvPr/>
        </p:nvSpPr>
        <p:spPr>
          <a:xfrm>
            <a:off x="3453476" y="5421682"/>
            <a:ext cx="2884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Non-convex lifted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B31F33-3F8D-942B-7A93-50B93AB10D43}"/>
              </a:ext>
            </a:extLst>
          </p:cNvPr>
          <p:cNvSpPr txBox="1"/>
          <p:nvPr/>
        </p:nvSpPr>
        <p:spPr>
          <a:xfrm>
            <a:off x="7730836" y="2518495"/>
            <a:ext cx="41348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True UC-ACOPF is non-convex MINLP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Non-convexity renders DFSOM approach impossible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KKT conditions are not sufficient</a:t>
            </a:r>
          </a:p>
        </p:txBody>
      </p:sp>
    </p:spTree>
    <p:extLst>
      <p:ext uri="{BB962C8B-B14F-4D97-AF65-F5344CB8AC3E}">
        <p14:creationId xmlns:p14="http://schemas.microsoft.com/office/powerpoint/2010/main" val="868615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7F16-0530-2FB7-49CB-31D588F3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Convex MIQCQP for UC-ACOPF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C66C8-0285-5915-9497-4227719194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0DAE2B-632C-EFCD-FF4A-1015AAD12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11"/>
          <a:stretch>
            <a:fillRect/>
          </a:stretch>
        </p:blipFill>
        <p:spPr>
          <a:xfrm>
            <a:off x="415636" y="951810"/>
            <a:ext cx="4655127" cy="52542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74F6E6-775A-E68C-82CE-9B9BFA0710BD}"/>
              </a:ext>
            </a:extLst>
          </p:cNvPr>
          <p:cNvSpPr txBox="1"/>
          <p:nvPr/>
        </p:nvSpPr>
        <p:spPr>
          <a:xfrm>
            <a:off x="-59807" y="6562145"/>
            <a:ext cx="88777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[1] G. Constante-Flores and C. Li, “A quadratically-constrained convex approximation for the AC optimal power flow,” </a:t>
            </a:r>
            <a:r>
              <a:rPr lang="en-US" sz="900" i="1" err="1"/>
              <a:t>Optim</a:t>
            </a:r>
            <a:r>
              <a:rPr lang="en-US" sz="900" i="1"/>
              <a:t> Eng</a:t>
            </a:r>
            <a:r>
              <a:rPr lang="en-US" sz="900"/>
              <a:t>, Mar. 2026, </a:t>
            </a:r>
            <a:r>
              <a:rPr lang="en-US" sz="900" err="1"/>
              <a:t>doi</a:t>
            </a:r>
            <a:r>
              <a:rPr lang="en-US" sz="900"/>
              <a:t>: </a:t>
            </a:r>
            <a:r>
              <a:rPr lang="en-US" sz="900">
                <a:hlinkClick r:id="rId3"/>
              </a:rPr>
              <a:t>10.1007/s11081-026-10079-4</a:t>
            </a:r>
            <a:r>
              <a:rPr lang="en-US" sz="90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36B5C-D80C-FF4F-4A2D-AD16F04C2915}"/>
              </a:ext>
            </a:extLst>
          </p:cNvPr>
          <p:cNvSpPr txBox="1"/>
          <p:nvPr/>
        </p:nvSpPr>
        <p:spPr>
          <a:xfrm>
            <a:off x="3923141" y="1562605"/>
            <a:ext cx="229524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Same constraints as before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0C04E-AA92-2397-5DD6-BD9B74E9590A}"/>
              </a:ext>
            </a:extLst>
          </p:cNvPr>
          <p:cNvSpPr txBox="1"/>
          <p:nvPr/>
        </p:nvSpPr>
        <p:spPr>
          <a:xfrm>
            <a:off x="4996869" y="3284467"/>
            <a:ext cx="317862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Convexification of lifted variable space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7CBC77-A842-99CC-F5FF-4541F8B78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055" y="1911915"/>
            <a:ext cx="916336" cy="3077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D9516A4-C9EC-5510-82CC-BC2A3D6F292E}"/>
              </a:ext>
            </a:extLst>
          </p:cNvPr>
          <p:cNvSpPr txBox="1"/>
          <p:nvPr/>
        </p:nvSpPr>
        <p:spPr>
          <a:xfrm>
            <a:off x="6771945" y="1347160"/>
            <a:ext cx="5004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Linearize terms with first-order Taylor series approximation around parameter node voltages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/>
              <a:t>Convexify the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FEAB42-7A60-2CCA-F9E1-24DCFDFED6FE}"/>
                  </a:ext>
                </a:extLst>
              </p:cNvPr>
              <p:cNvSpPr txBox="1"/>
              <p:nvPr/>
            </p:nvSpPr>
            <p:spPr>
              <a:xfrm>
                <a:off x="6771944" y="4079509"/>
                <a:ext cx="50044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Task: Use neural layers to predict these node  voltages (convexification points) and the penalty term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) and learned constraints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FEAB42-7A60-2CCA-F9E1-24DCFDFED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944" y="4079509"/>
                <a:ext cx="5004419" cy="923330"/>
              </a:xfrm>
              <a:prstGeom prst="rect">
                <a:avLst/>
              </a:prstGeom>
              <a:blipFill>
                <a:blip r:embed="rId5"/>
                <a:stretch>
                  <a:fillRect l="-759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486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5913-1B7C-84C1-59B5-A5E89947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UC-ACOPF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CDC65-A7AA-A132-97F2-1170B67D20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23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616636-A07E-D73A-89D1-7B5048FEA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71" y="1052539"/>
            <a:ext cx="9247635" cy="2283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94D090-C6D5-2929-6983-14D0844CCB53}"/>
              </a:ext>
            </a:extLst>
          </p:cNvPr>
          <p:cNvSpPr txBox="1"/>
          <p:nvPr/>
        </p:nvSpPr>
        <p:spPr>
          <a:xfrm>
            <a:off x="476566" y="641787"/>
            <a:ext cx="270067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Unsupervised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E09A8-16A9-36E8-2E9C-5DC170C1655E}"/>
              </a:ext>
            </a:extLst>
          </p:cNvPr>
          <p:cNvSpPr txBox="1"/>
          <p:nvPr/>
        </p:nvSpPr>
        <p:spPr>
          <a:xfrm>
            <a:off x="476566" y="3862697"/>
            <a:ext cx="24265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Supervised Approach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461058-74C3-876B-BDAB-9209117FF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71" y="4232029"/>
            <a:ext cx="9247635" cy="22828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A6C9FC-1722-3322-1DAA-96046C76A93A}"/>
              </a:ext>
            </a:extLst>
          </p:cNvPr>
          <p:cNvSpPr txBox="1"/>
          <p:nvPr/>
        </p:nvSpPr>
        <p:spPr>
          <a:xfrm>
            <a:off x="9724201" y="2978781"/>
            <a:ext cx="2284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Learning Complex Parameters with Learned Constraints didn't work well.</a:t>
            </a:r>
          </a:p>
        </p:txBody>
      </p:sp>
    </p:spTree>
    <p:extLst>
      <p:ext uri="{BB962C8B-B14F-4D97-AF65-F5344CB8AC3E}">
        <p14:creationId xmlns:p14="http://schemas.microsoft.com/office/powerpoint/2010/main" val="509644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D00B-1E88-89E3-944D-6FE022660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C8500-BF1E-F789-FD41-1B6C28F18BE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Introduced a new methodology for </a:t>
            </a:r>
            <a:r>
              <a:rPr lang="en-US"/>
              <a:t>Decision-Focused Surrogate Optimization Models for convex MINLP problems</a:t>
            </a:r>
            <a:endParaRPr lang="en-US" dirty="0"/>
          </a:p>
          <a:p>
            <a:r>
              <a:rPr lang="en-US"/>
              <a:t>Neural layers to predict cutting planes and model parameters in an end-to-end framework</a:t>
            </a:r>
          </a:p>
          <a:p>
            <a:r>
              <a:rPr lang="en-US"/>
              <a:t>Applied to hybrid vehicle control and AC OPF with unit commitment decisions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C6B3E-1C3A-E341-A171-A6EC874C55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47674B7-1E96-884B-981B-F2348E1A98F1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3DA0B-D86B-7943-0D37-591218F9A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458" y="3827648"/>
            <a:ext cx="2017059" cy="2017059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07BEE52-90E1-EDC4-268F-701ABEB92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42" y="4210419"/>
            <a:ext cx="870708" cy="87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934AF7-C429-BC9F-18B8-7D74AC7AC4E2}"/>
              </a:ext>
            </a:extLst>
          </p:cNvPr>
          <p:cNvSpPr txBox="1"/>
          <p:nvPr/>
        </p:nvSpPr>
        <p:spPr>
          <a:xfrm>
            <a:off x="6620040" y="508112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Link</a:t>
            </a:r>
          </a:p>
        </p:txBody>
      </p:sp>
    </p:spTree>
    <p:extLst>
      <p:ext uri="{BB962C8B-B14F-4D97-AF65-F5344CB8AC3E}">
        <p14:creationId xmlns:p14="http://schemas.microsoft.com/office/powerpoint/2010/main" val="4087941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1FD9-B5D9-018C-75D2-4F4004F7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58890"/>
      </p:ext>
    </p:extLst>
  </p:cSld>
  <p:clrMapOvr>
    <a:masterClrMapping/>
  </p:clrMapOvr>
</p:sld>
</file>

<file path=ppt/theme/theme1.xml><?xml version="1.0" encoding="utf-8"?>
<a:theme xmlns:a="http://schemas.openxmlformats.org/drawingml/2006/main" name="Work">
  <a:themeElements>
    <a:clrScheme name="UW-Madison theme1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C5050C"/>
      </a:accent2>
      <a:accent3>
        <a:srgbClr val="9B0000"/>
      </a:accent3>
      <a:accent4>
        <a:srgbClr val="FCCB51"/>
      </a:accent4>
      <a:accent5>
        <a:srgbClr val="80B3AE"/>
      </a:accent5>
      <a:accent6>
        <a:srgbClr val="ADADAD"/>
      </a:accent6>
      <a:hlink>
        <a:srgbClr val="0479A8"/>
      </a:hlink>
      <a:folHlink>
        <a:srgbClr val="0479A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rk" id="{CE17E1DC-1CC6-8247-9FD5-33C0EB5FAE6E}" vid="{4A1FE38A-C74A-5749-95D7-6F6BEC287B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</Template>
  <TotalTime>1</TotalTime>
  <Words>1467</Words>
  <Application>Microsoft Macintosh PowerPoint</Application>
  <PresentationFormat>Widescreen</PresentationFormat>
  <Paragraphs>193</Paragraphs>
  <Slides>25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CMU Serif</vt:lpstr>
      <vt:lpstr>Franklin Gothic Medium</vt:lpstr>
      <vt:lpstr>Red Hat Display</vt:lpstr>
      <vt:lpstr>Work</vt:lpstr>
      <vt:lpstr>Decision-Focused Surrogate Modeling for Convex MINLP Via Neural Differentiable Optimization Layers</vt:lpstr>
      <vt:lpstr>Motivation: The Need for Real-Time MINLP</vt:lpstr>
      <vt:lpstr>Contents</vt:lpstr>
      <vt:lpstr>Surrogate Optimization Literature</vt:lpstr>
      <vt:lpstr>Decision-Focused (DF) Surrogate Modeling </vt:lpstr>
      <vt:lpstr>DF Surrogate Modeling &amp; Bilevel Formulation</vt:lpstr>
      <vt:lpstr>Proposed Approach for Convex MINLP </vt:lpstr>
      <vt:lpstr>Optimization as Differentiable layers in NN</vt:lpstr>
      <vt:lpstr>Optimization as Differentiable layers in NN</vt:lpstr>
      <vt:lpstr>Optimization as Differentiable layers in NN</vt:lpstr>
      <vt:lpstr>Proposed approach for Convex MINLP </vt:lpstr>
      <vt:lpstr>Proposed approach for Convex MINLP </vt:lpstr>
      <vt:lpstr>Feasibility Restoration</vt:lpstr>
      <vt:lpstr>Algorithm</vt:lpstr>
      <vt:lpstr>Case Study: Hybrid Vehicle Control</vt:lpstr>
      <vt:lpstr>Case Study: Hybrid Vehicle Control</vt:lpstr>
      <vt:lpstr>Case Study: Hybrid Vehicle Control</vt:lpstr>
      <vt:lpstr>Specifications: Hybrid Vehicle Case Study</vt:lpstr>
      <vt:lpstr>Results: Hybrid Vehicle Case Study</vt:lpstr>
      <vt:lpstr>Results: Hybrid Vehicle Case Study</vt:lpstr>
      <vt:lpstr>Case Study: Unit Commitment – AC OPF (UC-ACOPF)</vt:lpstr>
      <vt:lpstr>Convex MIQCQP for UC-ACOPF</vt:lpstr>
      <vt:lpstr>UC-ACOPF Results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Kiernan Xay JENNINGS</dc:creator>
  <cp:lastModifiedBy>Parth Rakeshkumar Brahmbhatt</cp:lastModifiedBy>
  <cp:revision>2</cp:revision>
  <dcterms:created xsi:type="dcterms:W3CDTF">2026-04-09T16:29:41Z</dcterms:created>
  <dcterms:modified xsi:type="dcterms:W3CDTF">2026-10-05T16:19:13Z</dcterms:modified>
</cp:coreProperties>
</file>